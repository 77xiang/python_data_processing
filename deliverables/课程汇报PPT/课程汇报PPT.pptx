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8FB5AE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 noProof="1">
                    <a:solidFill>
                      <a:schemeClr val="bg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历史同期基线</c:v>
                </c:pt>
                <c:pt idx="1">
                  <c:v>线性回归 LR</c:v>
                </c:pt>
                <c:pt idx="2">
                  <c:v>梯度提升树 GBT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1050.68</c:v>
                </c:pt>
                <c:pt idx="1">
                  <c:v>514.09</c:v>
                </c:pt>
                <c:pt idx="2">
                  <c:v>930.62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6424B"/>
            </a:solidFill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000" b="0" i="0" u="none" strike="noStrike" kern="1200" baseline="0" noProof="1">
                        <a:solidFill>
                          <a:schemeClr val="bg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bg1"/>
                        </a:solidFill>
                      </a:rPr>
                      <a:t>1,644</a:t>
                    </a:r>
                    <a:endParaRPr>
                      <a:solidFill>
                        <a:schemeClr val="bg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 noProof="1">
                    <a:solidFill>
                      <a:schemeClr val="bg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历史同期基线</c:v>
                </c:pt>
                <c:pt idx="1">
                  <c:v>线性回归 LR</c:v>
                </c:pt>
                <c:pt idx="2">
                  <c:v>梯度提升树 GBT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1643.67</c:v>
                </c:pt>
                <c:pt idx="1">
                  <c:v>767.16</c:v>
                </c:pt>
                <c:pt idx="2">
                  <c:v>1258.73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 noProof="1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0"/>
        <c:axPos val="l"/>
        <c:majorGridlines>
          <c:spPr>
            <a:ln w="12700" cap="flat" cmpd="sng" algn="ctr">
              <a:solidFill>
                <a:srgbClr val="E3DFD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 noProof="1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  <c:majorUnit val="500"/>
      </c:valAx>
      <c:spPr>
        <a:noFill/>
        <a:ln>
          <a:noFill/>
        </a:ln>
      </c:spPr>
    </c:plotArea>
    <c:legend>
      <c:legendPos val="t"/>
      <c:layout>
        <c:manualLayout>
          <c:xMode val="edge"/>
          <c:yMode val="edge"/>
          <c:x val="0.41875"/>
          <c:y val="0.024"/>
          <c:w val="0.238645833333333"/>
          <c:h val="0.0778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fb6bcb9-e537-4771-968c-9874a4bdbed0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77xiang/python_data_processin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77xiang/python_data_process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atch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16424B"/>
          </a:solidFill>
          <a:ln>
            <a:noFill/>
          </a:ln>
        </p:spPr>
      </p:sp>
      <p:sp>
        <p:nvSpPr>
          <p:cNvPr id="3" name="swatch-accent"/>
          <p:cNvSpPr/>
          <p:nvPr/>
        </p:nvSpPr>
        <p:spPr>
          <a:xfrm>
            <a:off x="4826000" y="0"/>
            <a:ext cx="127000" cy="68580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4" name="cover-tag"/>
          <p:cNvSpPr txBox="1"/>
          <p:nvPr/>
        </p:nvSpPr>
        <p:spPr>
          <a:xfrm>
            <a:off x="457200" y="843280"/>
            <a:ext cx="3810000" cy="464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kern="0" spc="200" noProof="1">
                <a:solidFill>
                  <a:srgbClr val="BFD3D6"/>
                </a:solidFill>
                <a:latin typeface="MiSans" charset="-122"/>
                <a:ea typeface="MiSans" charset="-122"/>
              </a:rPr>
              <a:t>题目四</a:t>
            </a:r>
            <a:endParaRPr lang="en-US" sz="2400" kern="0" spc="200" noProof="1">
              <a:solidFill>
                <a:srgbClr val="BFD3D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5" name="cover-title"/>
          <p:cNvSpPr txBox="1"/>
          <p:nvPr/>
        </p:nvSpPr>
        <p:spPr>
          <a:xfrm>
            <a:off x="457200" y="1397000"/>
            <a:ext cx="40132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3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基于</a:t>
            </a:r>
            <a:r>
              <a:rPr lang="en-US" sz="3200" b="1" noProof="1">
                <a:solidFill>
                  <a:srgbClr val="E8A58C"/>
                </a:solidFill>
                <a:latin typeface="MiSans" charset="-122"/>
                <a:ea typeface="MiSans" charset="-122"/>
              </a:rPr>
              <a:t>时间序列验证</a:t>
            </a:r>
            <a:r>
              <a:rPr lang="en-US" sz="3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与</a:t>
            </a:r>
            <a:r>
              <a:rPr lang="en-US" sz="3200" b="1" noProof="1">
                <a:solidFill>
                  <a:srgbClr val="E8A58C"/>
                </a:solidFill>
                <a:latin typeface="MiSans" charset="-122"/>
                <a:ea typeface="MiSans" charset="-122"/>
              </a:rPr>
              <a:t>特征消融</a:t>
            </a:r>
            <a:r>
              <a:rPr lang="en-US" sz="3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的城市短期电力负荷预测研究</a:t>
            </a:r>
            <a:endParaRPr lang="en-US" sz="3200" noProof="1"/>
          </a:p>
        </p:txBody>
      </p:sp>
      <p:sp>
        <p:nvSpPr>
          <p:cNvPr id="6" name="cover-line"/>
          <p:cNvSpPr/>
          <p:nvPr/>
        </p:nvSpPr>
        <p:spPr>
          <a:xfrm>
            <a:off x="457200" y="4724400"/>
            <a:ext cx="762000" cy="381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7" name="cover-sub"/>
          <p:cNvSpPr txBox="1"/>
          <p:nvPr/>
        </p:nvSpPr>
        <p:spPr>
          <a:xfrm>
            <a:off x="457200" y="4978400"/>
            <a:ext cx="401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BFD3D6"/>
                </a:solidFill>
                <a:latin typeface="MiSans" charset="-122"/>
                <a:ea typeface="MiSans" charset="-122"/>
              </a:rPr>
              <a:t>数据清洗 → 探索性分析 → 模型比较 </a:t>
            </a:r>
            <a:endParaRPr lang="en-US" sz="1400" noProof="1">
              <a:solidFill>
                <a:srgbClr val="BFD3D6"/>
              </a:solidFill>
              <a:latin typeface="MiSans" charset="-122"/>
              <a:ea typeface="MiSans" charset="-122"/>
            </a:endParaRPr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BFD3D6"/>
                </a:solidFill>
                <a:latin typeface="MiSans" charset="-122"/>
                <a:ea typeface="MiSans" charset="-122"/>
              </a:rPr>
              <a:t>→ 特征消融 → 误差分析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BFD3D6"/>
                </a:solidFill>
                <a:latin typeface="MiSans" charset="-122"/>
                <a:ea typeface="MiSans" charset="-122"/>
              </a:rPr>
              <a:t>预测目标：</a:t>
            </a:r>
            <a:r>
              <a:rPr lang="en-US" sz="1400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 未来 1 小时 · 三区域负荷 </a:t>
            </a:r>
            <a:endParaRPr lang="en-US" sz="1400" noProof="1"/>
          </a:p>
        </p:txBody>
      </p:sp>
      <p:sp>
        <p:nvSpPr>
          <p:cNvPr id="8" name="meta-course"/>
          <p:cNvSpPr txBox="1"/>
          <p:nvPr/>
        </p:nvSpPr>
        <p:spPr>
          <a:xfrm>
            <a:off x="5405120" y="3025775"/>
            <a:ext cx="609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kern="0" spc="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《Python 数据分析编程》课程汇报 </a:t>
            </a:r>
            <a:r>
              <a:rPr lang="zh-CN" altLang="en-US" sz="1400" kern="0" spc="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第</a:t>
            </a:r>
            <a:r>
              <a:rPr lang="en-US" altLang="zh-CN" sz="1400" kern="0" spc="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5</a:t>
            </a:r>
            <a:r>
              <a:rPr lang="zh-CN" altLang="en-US" sz="1400" kern="0" spc="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组</a:t>
            </a:r>
            <a:endParaRPr lang="zh-CN" altLang="en-US" sz="1400" kern="0" spc="100" noProof="1">
              <a:solidFill>
                <a:srgbClr val="6E767C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9" name="meta-members-label"/>
          <p:cNvSpPr txBox="1"/>
          <p:nvPr/>
        </p:nvSpPr>
        <p:spPr>
          <a:xfrm>
            <a:off x="5461000" y="3660775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小组成员</a:t>
            </a:r>
            <a:endParaRPr lang="en-US" sz="1200" noProof="1"/>
          </a:p>
        </p:txBody>
      </p:sp>
      <p:sp>
        <p:nvSpPr>
          <p:cNvPr id="10" name="meta-members"/>
          <p:cNvSpPr txBox="1"/>
          <p:nvPr/>
        </p:nvSpPr>
        <p:spPr>
          <a:xfrm>
            <a:off x="5461000" y="3940175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5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郑宜桥</a:t>
            </a:r>
            <a:r>
              <a:rPr lang="en-US" sz="15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　数据清洗与</a:t>
            </a:r>
            <a:r>
              <a:rPr lang="zh-CN" altLang="en-US" sz="15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数据</a:t>
            </a:r>
            <a:r>
              <a:rPr lang="en-US" sz="15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分析（A 模块）</a:t>
            </a:r>
            <a:endParaRPr lang="en-US" sz="1500" noProof="1"/>
          </a:p>
          <a:p>
            <a:pPr>
              <a:lnSpc>
                <a:spcPct val="160000"/>
              </a:lnSpc>
            </a:pPr>
            <a:r>
              <a:rPr lang="en-US" sz="15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况子昱</a:t>
            </a:r>
            <a:r>
              <a:rPr lang="en-US" sz="15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　预测模型与时间序列验证（B 模块）</a:t>
            </a:r>
            <a:endParaRPr lang="en-US" sz="1500" noProof="1"/>
          </a:p>
          <a:p>
            <a:pPr>
              <a:lnSpc>
                <a:spcPct val="160000"/>
              </a:lnSpc>
            </a:pPr>
            <a:r>
              <a:rPr lang="en-US" sz="15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徐启翔</a:t>
            </a:r>
            <a:r>
              <a:rPr lang="en-US" sz="15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　消融实验、误差分析与报告</a:t>
            </a:r>
            <a:r>
              <a:rPr lang="zh-CN" altLang="en-US" sz="15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展示</a:t>
            </a:r>
            <a:r>
              <a:rPr lang="en-US" sz="15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（C 模块）</a:t>
            </a:r>
            <a:endParaRPr lang="en-US" sz="1500" noProof="1"/>
          </a:p>
        </p:txBody>
      </p:sp>
      <p:sp>
        <p:nvSpPr>
          <p:cNvPr id="11" name="meta-line"/>
          <p:cNvSpPr/>
          <p:nvPr/>
        </p:nvSpPr>
        <p:spPr>
          <a:xfrm>
            <a:off x="5461000" y="5311775"/>
            <a:ext cx="609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12" name="meta-repo-label"/>
          <p:cNvSpPr txBox="1"/>
          <p:nvPr/>
        </p:nvSpPr>
        <p:spPr>
          <a:xfrm>
            <a:off x="5461000" y="5540375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GitHub 仓库</a:t>
            </a:r>
            <a:endParaRPr lang="en-US" sz="1200" noProof="1"/>
          </a:p>
        </p:txBody>
      </p:sp>
      <p:sp>
        <p:nvSpPr>
          <p:cNvPr id="13" name="meta-repo"/>
          <p:cNvSpPr txBox="1"/>
          <p:nvPr/>
        </p:nvSpPr>
        <p:spPr>
          <a:xfrm>
            <a:off x="5461000" y="5819775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u="sng" noProof="1">
                <a:solidFill>
                  <a:srgbClr val="0563C1"/>
                </a:solidFill>
                <a:latin typeface="MiSans" charset="-122"/>
                <a:ea typeface="MiSans" charset="-122"/>
                <a:hlinkClick r:id="rId1"/>
              </a:rPr>
              <a:t>github.com/77xiang/python_data_processing</a:t>
            </a:r>
            <a:endParaRPr lang="en-US" sz="1400" noProof="1"/>
          </a:p>
        </p:txBody>
      </p:sp>
      <p:sp>
        <p:nvSpPr>
          <p:cNvPr id="22" name="page-num"/>
          <p:cNvSpPr txBox="1"/>
          <p:nvPr/>
        </p:nvSpPr>
        <p:spPr>
          <a:xfrm>
            <a:off x="11176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1 / 10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508000" y="431800"/>
            <a:ext cx="76200" cy="3302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3" name="hdr-title"/>
          <p:cNvSpPr txBox="1"/>
          <p:nvPr/>
        </p:nvSpPr>
        <p:spPr>
          <a:xfrm>
            <a:off x="711200" y="406400"/>
            <a:ext cx="8890000" cy="475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引言</a:t>
            </a:r>
            <a:r>
              <a:rPr 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与技术路线</a:t>
            </a:r>
            <a:endParaRPr lang="en-US" sz="2600" noProof="1"/>
          </a:p>
        </p:txBody>
      </p:sp>
      <p:sp>
        <p:nvSpPr>
          <p:cNvPr id="4" name="hdr-tag"/>
          <p:cNvSpPr txBox="1"/>
          <p:nvPr/>
        </p:nvSpPr>
        <p:spPr>
          <a:xfrm>
            <a:off x="9906000" y="482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01 · 研究设计</a:t>
            </a:r>
            <a:endParaRPr lang="en-US" sz="1100" noProof="1"/>
          </a:p>
        </p:txBody>
      </p:sp>
      <p:sp>
        <p:nvSpPr>
          <p:cNvPr id="5" name="hdr-line"/>
          <p:cNvSpPr/>
          <p:nvPr/>
        </p:nvSpPr>
        <p:spPr>
          <a:xfrm>
            <a:off x="508000" y="8890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6" name="bg-text"/>
          <p:cNvSpPr txBox="1"/>
          <p:nvPr/>
        </p:nvSpPr>
        <p:spPr>
          <a:xfrm>
            <a:off x="685800" y="1539875"/>
            <a:ext cx="5155565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为什么做短期负荷预测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短期负荷预测直接服务于电网调度：预测偏差会转化为备用容量的浪费或供电缺口风险，</a:t>
            </a:r>
            <a:r>
              <a:rPr lang="en-US" sz="1400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 高峰时段的低估对调度最不安全 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。</a:t>
            </a:r>
            <a:endParaRPr lang="en-US" sz="140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研究目标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基于历史负荷与气象观测，预测 </a:t>
            </a:r>
            <a:r>
              <a:rPr lang="en-US" sz="14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1 小时后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（t+6，10 分钟采样）三个区域的电力负荷，并检验机器学习模型相对简单历史基线是否真正有效。</a:t>
            </a: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7" name="bg-question"/>
          <p:cNvSpPr txBox="1"/>
          <p:nvPr/>
        </p:nvSpPr>
        <p:spPr>
          <a:xfrm>
            <a:off x="685800" y="4552315"/>
            <a:ext cx="5334000" cy="13760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b="1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 核心研究问题 </a:t>
            </a:r>
            <a:endParaRPr lang="en-US" sz="1400" noProof="1"/>
          </a:p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① </a:t>
            </a:r>
            <a:r>
              <a:rPr lang="zh-CN" alt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预测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模型能否稳定超越"上周同一时刻"基线？</a:t>
            </a:r>
            <a:endParaRPr lang="en-US" sz="1400" noProof="1"/>
          </a:p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② </a:t>
            </a:r>
            <a:r>
              <a:rPr lang="zh-CN" alt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气象因素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的增益有多大、是否稳定？</a:t>
            </a:r>
            <a:endParaRPr lang="en-US" sz="1400" noProof="1"/>
          </a:p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③ 高负荷时段误差是否恶化、方向如何？</a:t>
            </a: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8" name="flow-label"/>
          <p:cNvSpPr txBox="1"/>
          <p:nvPr/>
        </p:nvSpPr>
        <p:spPr>
          <a:xfrm>
            <a:off x="6350000" y="1539875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技术路线（五个环节）</a:t>
            </a:r>
            <a:endParaRPr lang="en-US" sz="1400" b="1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9" name="flow-s1"/>
          <p:cNvSpPr/>
          <p:nvPr/>
        </p:nvSpPr>
        <p:spPr>
          <a:xfrm>
            <a:off x="6350000" y="1920875"/>
            <a:ext cx="2232660" cy="787400"/>
          </a:xfrm>
          <a:prstGeom prst="homePlate">
            <a:avLst>
              <a:gd name="adj" fmla="val 28000"/>
            </a:avLst>
          </a:prstGeom>
          <a:solidFill>
            <a:srgbClr val="16424B"/>
          </a:solidFill>
          <a:ln>
            <a:noFill/>
          </a:ln>
        </p:spPr>
      </p:sp>
      <p:sp>
        <p:nvSpPr>
          <p:cNvPr id="10" name="flow-t1"/>
          <p:cNvSpPr txBox="1"/>
          <p:nvPr/>
        </p:nvSpPr>
        <p:spPr>
          <a:xfrm>
            <a:off x="6400800" y="1997075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数据清洗</a:t>
            </a:r>
            <a:endParaRPr lang="en-US" sz="12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000" b="1" noProof="1">
                <a:solidFill>
                  <a:srgbClr val="BFD3D6"/>
                </a:solidFill>
                <a:latin typeface="MiSans" charset="-122"/>
                <a:ea typeface="MiSans" charset="-122"/>
              </a:rPr>
              <a:t>审计 · 规整 · 校验</a:t>
            </a:r>
            <a:endParaRPr lang="en-US" sz="1000" b="1" noProof="1">
              <a:solidFill>
                <a:srgbClr val="BFD3D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1" name="flow-s2"/>
          <p:cNvSpPr/>
          <p:nvPr/>
        </p:nvSpPr>
        <p:spPr>
          <a:xfrm>
            <a:off x="8802370" y="1920875"/>
            <a:ext cx="2232660" cy="787400"/>
          </a:xfrm>
          <a:prstGeom prst="homePlate">
            <a:avLst>
              <a:gd name="adj" fmla="val 28000"/>
            </a:avLst>
          </a:prstGeom>
          <a:solidFill>
            <a:srgbClr val="2E7D74"/>
          </a:solidFill>
          <a:ln>
            <a:noFill/>
          </a:ln>
        </p:spPr>
      </p:sp>
      <p:sp>
        <p:nvSpPr>
          <p:cNvPr id="12" name="flow-t2"/>
          <p:cNvSpPr txBox="1"/>
          <p:nvPr/>
        </p:nvSpPr>
        <p:spPr>
          <a:xfrm>
            <a:off x="8853170" y="1997075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数据</a:t>
            </a: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分析</a:t>
            </a:r>
            <a:endParaRPr lang="en-US" sz="12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000" b="1" noProof="1">
                <a:solidFill>
                  <a:srgbClr val="D3E4E1"/>
                </a:solidFill>
                <a:latin typeface="MiSans" charset="-122"/>
                <a:ea typeface="MiSans" charset="-122"/>
              </a:rPr>
              <a:t>日/周/季节规律</a:t>
            </a:r>
            <a:endParaRPr lang="en-US" sz="1000" b="1" noProof="1">
              <a:solidFill>
                <a:srgbClr val="D3E4E1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3" name="flow-s3"/>
          <p:cNvSpPr/>
          <p:nvPr/>
        </p:nvSpPr>
        <p:spPr>
          <a:xfrm>
            <a:off x="6350000" y="2911475"/>
            <a:ext cx="2232660" cy="787400"/>
          </a:xfrm>
          <a:prstGeom prst="homePlate">
            <a:avLst>
              <a:gd name="adj" fmla="val 28000"/>
            </a:avLst>
          </a:prstGeom>
          <a:solidFill>
            <a:srgbClr val="2E7D74"/>
          </a:solidFill>
          <a:ln>
            <a:noFill/>
          </a:ln>
        </p:spPr>
      </p:sp>
      <p:sp>
        <p:nvSpPr>
          <p:cNvPr id="14" name="flow-t3"/>
          <p:cNvSpPr txBox="1"/>
          <p:nvPr/>
        </p:nvSpPr>
        <p:spPr>
          <a:xfrm>
            <a:off x="6400800" y="2987675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模型训练</a:t>
            </a:r>
            <a:endParaRPr lang="en-US" sz="12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000" b="1" noProof="1">
                <a:solidFill>
                  <a:srgbClr val="D3E4E1"/>
                </a:solidFill>
                <a:latin typeface="MiSans" charset="-122"/>
                <a:ea typeface="MiSans" charset="-122"/>
              </a:rPr>
              <a:t>基线 / LR / GBT</a:t>
            </a:r>
            <a:endParaRPr lang="en-US" sz="1000" b="1" noProof="1">
              <a:solidFill>
                <a:srgbClr val="D3E4E1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5" name="flow-s4"/>
          <p:cNvSpPr/>
          <p:nvPr/>
        </p:nvSpPr>
        <p:spPr>
          <a:xfrm>
            <a:off x="8802370" y="2911475"/>
            <a:ext cx="2232660" cy="787400"/>
          </a:xfrm>
          <a:prstGeom prst="homePlate">
            <a:avLst>
              <a:gd name="adj" fmla="val 28000"/>
            </a:avLst>
          </a:prstGeom>
          <a:solidFill>
            <a:srgbClr val="16424B"/>
          </a:solidFill>
          <a:ln>
            <a:noFill/>
          </a:ln>
        </p:spPr>
      </p:sp>
      <p:sp>
        <p:nvSpPr>
          <p:cNvPr id="16" name="flow-t4"/>
          <p:cNvSpPr txBox="1"/>
          <p:nvPr/>
        </p:nvSpPr>
        <p:spPr>
          <a:xfrm>
            <a:off x="8853170" y="2987675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特征消融</a:t>
            </a:r>
            <a:endParaRPr lang="en-US" sz="12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000" b="1" noProof="1">
                <a:solidFill>
                  <a:srgbClr val="BFD3D6"/>
                </a:solidFill>
                <a:latin typeface="MiSans" charset="-122"/>
                <a:ea typeface="MiSans" charset="-122"/>
              </a:rPr>
              <a:t>周同期 · 天气</a:t>
            </a:r>
            <a:endParaRPr lang="en-US" sz="1000" b="1" noProof="1">
              <a:solidFill>
                <a:srgbClr val="BFD3D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7" name="flow-s5"/>
          <p:cNvSpPr/>
          <p:nvPr/>
        </p:nvSpPr>
        <p:spPr>
          <a:xfrm>
            <a:off x="6350000" y="3902075"/>
            <a:ext cx="4584065" cy="787400"/>
          </a:xfrm>
          <a:prstGeom prst="homePlate">
            <a:avLst>
              <a:gd name="adj" fmla="val 14000"/>
            </a:avLst>
          </a:prstGeom>
          <a:solidFill>
            <a:srgbClr val="C0562F"/>
          </a:solidFill>
          <a:ln>
            <a:noFill/>
          </a:ln>
        </p:spPr>
      </p:sp>
      <p:sp>
        <p:nvSpPr>
          <p:cNvPr id="18" name="flow-t5"/>
          <p:cNvSpPr txBox="1"/>
          <p:nvPr/>
        </p:nvSpPr>
        <p:spPr>
          <a:xfrm>
            <a:off x="6502400" y="3978275"/>
            <a:ext cx="401828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误差分析与结论</a:t>
            </a:r>
            <a:endParaRPr lang="en-US" sz="12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000" b="1" noProof="1">
                <a:solidFill>
                  <a:srgbClr val="F2D3C5"/>
                </a:solidFill>
                <a:latin typeface="MiSans" charset="-122"/>
                <a:ea typeface="MiSans" charset="-122"/>
              </a:rPr>
              <a:t>分区域 / 分时段 / 高负荷样本</a:t>
            </a:r>
            <a:endParaRPr lang="en-US" sz="1000" b="1" noProof="1">
              <a:solidFill>
                <a:srgbClr val="F2D3C5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9" name="flow-note"/>
          <p:cNvSpPr txBox="1"/>
          <p:nvPr/>
        </p:nvSpPr>
        <p:spPr>
          <a:xfrm>
            <a:off x="6327140" y="4968875"/>
            <a:ext cx="5356860" cy="922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验证设计：训练 / 验证 / 测试</a:t>
            </a:r>
            <a:r>
              <a:rPr lang="en-US" sz="14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严格按时间顺序切分</a:t>
            </a:r>
            <a:r>
              <a:rPr lang="en-US" sz="14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，子集边界剔除 6 个起点切断泄漏；评价指标 MAE / RMSE / MSE，跨区域比较使用 nRMSE。</a:t>
            </a:r>
            <a:endParaRPr lang="en-US" sz="1400" noProof="1">
              <a:solidFill>
                <a:srgbClr val="6E767C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0" name="foot-line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21" name="foot"/>
          <p:cNvSpPr txBox="1"/>
          <p:nvPr/>
        </p:nvSpPr>
        <p:spPr>
          <a:xfrm>
            <a:off x="508000" y="65024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《Python 数据分析编程》课程汇报 · 城市短期电力负荷预测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1176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2 / 10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508000" y="431800"/>
            <a:ext cx="76200" cy="3302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3" name="hdr-title"/>
          <p:cNvSpPr txBox="1"/>
          <p:nvPr/>
        </p:nvSpPr>
        <p:spPr>
          <a:xfrm>
            <a:off x="711200" y="406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数据集与数据清洗</a:t>
            </a:r>
            <a:endParaRPr lang="en-US" sz="2600" noProof="1"/>
          </a:p>
        </p:txBody>
      </p:sp>
      <p:sp>
        <p:nvSpPr>
          <p:cNvPr id="4" name="hdr-tag"/>
          <p:cNvSpPr txBox="1"/>
          <p:nvPr/>
        </p:nvSpPr>
        <p:spPr>
          <a:xfrm>
            <a:off x="9906000" y="482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02 · 数据基础</a:t>
            </a:r>
            <a:endParaRPr lang="en-US" sz="1100" noProof="1"/>
          </a:p>
        </p:txBody>
      </p:sp>
      <p:sp>
        <p:nvSpPr>
          <p:cNvPr id="5" name="hdr-line"/>
          <p:cNvSpPr/>
          <p:nvPr/>
        </p:nvSpPr>
        <p:spPr>
          <a:xfrm>
            <a:off x="508000" y="8890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6" name="num-1"/>
          <p:cNvSpPr txBox="1"/>
          <p:nvPr/>
        </p:nvSpPr>
        <p:spPr>
          <a:xfrm>
            <a:off x="508000" y="1265555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52,416</a:t>
            </a:r>
            <a:endParaRPr lang="en-US" sz="3000" noProof="1"/>
          </a:p>
        </p:txBody>
      </p:sp>
      <p:sp>
        <p:nvSpPr>
          <p:cNvPr id="7" name="num-1-label"/>
          <p:cNvSpPr txBox="1"/>
          <p:nvPr/>
        </p:nvSpPr>
        <p:spPr>
          <a:xfrm>
            <a:off x="508000" y="1798955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条记录 · 10 分钟采样，每日固定 144 条</a:t>
            </a:r>
            <a:endParaRPr lang="en-US" sz="1100" noProof="1"/>
          </a:p>
        </p:txBody>
      </p:sp>
      <p:sp>
        <p:nvSpPr>
          <p:cNvPr id="8" name="num-2"/>
          <p:cNvSpPr txBox="1"/>
          <p:nvPr/>
        </p:nvSpPr>
        <p:spPr>
          <a:xfrm>
            <a:off x="3175000" y="1265555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364 天</a:t>
            </a:r>
            <a:endParaRPr lang="en-US" sz="3000" noProof="1"/>
          </a:p>
        </p:txBody>
      </p:sp>
      <p:sp>
        <p:nvSpPr>
          <p:cNvPr id="9" name="num-2-label"/>
          <p:cNvSpPr txBox="1"/>
          <p:nvPr/>
        </p:nvSpPr>
        <p:spPr>
          <a:xfrm>
            <a:off x="3175000" y="1798955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2017-01-01 00:00 至 2017-12-30 23:50</a:t>
            </a:r>
            <a:endParaRPr lang="en-US" sz="1100" noProof="1"/>
          </a:p>
        </p:txBody>
      </p:sp>
      <p:sp>
        <p:nvSpPr>
          <p:cNvPr id="10" name="num-3"/>
          <p:cNvSpPr txBox="1"/>
          <p:nvPr/>
        </p:nvSpPr>
        <p:spPr>
          <a:xfrm>
            <a:off x="5842000" y="1265555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0</a:t>
            </a:r>
            <a:endParaRPr lang="en-US" sz="3000" noProof="1"/>
          </a:p>
        </p:txBody>
      </p:sp>
      <p:sp>
        <p:nvSpPr>
          <p:cNvPr id="11" name="num-3-label"/>
          <p:cNvSpPr txBox="1"/>
          <p:nvPr/>
        </p:nvSpPr>
        <p:spPr>
          <a:xfrm>
            <a:off x="5842000" y="1798955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缺失值 / 重复行 / 时间戳解析失败</a:t>
            </a:r>
            <a:endParaRPr lang="en-US" sz="1100" noProof="1"/>
          </a:p>
        </p:txBody>
      </p:sp>
      <p:sp>
        <p:nvSpPr>
          <p:cNvPr id="12" name="num-4"/>
          <p:cNvSpPr txBox="1"/>
          <p:nvPr/>
        </p:nvSpPr>
        <p:spPr>
          <a:xfrm>
            <a:off x="8255000" y="1265555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9 列</a:t>
            </a:r>
            <a:endParaRPr lang="en-US" sz="3000" noProof="1"/>
          </a:p>
        </p:txBody>
      </p:sp>
      <p:sp>
        <p:nvSpPr>
          <p:cNvPr id="13" name="num-4-label"/>
          <p:cNvSpPr txBox="1"/>
          <p:nvPr/>
        </p:nvSpPr>
        <p:spPr>
          <a:xfrm>
            <a:off x="8255000" y="1798955"/>
            <a:ext cx="3429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时间戳 + 三区域负荷 + 温度 / 湿度 / 风速 / 两项辐射</a:t>
            </a:r>
            <a:endParaRPr lang="en-US" sz="1100" noProof="1"/>
          </a:p>
        </p:txBody>
      </p:sp>
      <p:sp>
        <p:nvSpPr>
          <p:cNvPr id="14" name="tbl-label"/>
          <p:cNvSpPr txBox="1"/>
          <p:nvPr/>
        </p:nvSpPr>
        <p:spPr>
          <a:xfrm>
            <a:off x="508000" y="2413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数据质量检查与处理结果</a:t>
            </a:r>
            <a:endParaRPr lang="en-US" sz="1300" noProof="1"/>
          </a:p>
        </p:txBody>
      </p:sp>
      <p:graphicFrame>
        <p:nvGraphicFramePr>
          <p:cNvPr id="15" name="clean-table"/>
          <p:cNvGraphicFramePr>
            <a:graphicFrameLocks noGrp="1"/>
          </p:cNvGraphicFramePr>
          <p:nvPr/>
        </p:nvGraphicFramePr>
        <p:xfrm>
          <a:off x="508000" y="2717800"/>
          <a:ext cx="6604000" cy="2667000"/>
        </p:xfrm>
        <a:graphic>
          <a:graphicData uri="http://schemas.openxmlformats.org/drawingml/2006/table">
            <a:tbl>
              <a:tblPr/>
              <a:tblGrid>
                <a:gridCol w="1981200"/>
                <a:gridCol w="2773680"/>
                <a:gridCol w="1849120"/>
              </a:tblGrid>
              <a:tr h="5067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检查项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结果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处理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</a:tr>
              <a:tr h="432054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时间戳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升序、无重复、间隔恒为 10 分钟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无需插补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  <a:tr h="432054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缺失 / 重复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缺失单元格 0，完全重复行 0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无需处理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  <a:tr h="432054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列名规范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Zone 2/3 列名含连续空格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统一规整列名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  <a:tr h="432054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数据类型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负荷与天气字段均为 float64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类型校验通过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  <a:tr h="432054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异常值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3×IQR 标记集中于固定时段；负荷负值 / 零值 0 条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FFFFFF"/>
                          </a:solidFill>
                          <a:highlight>
                            <a:srgbClr val="C0562F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 只标记、不删除 </a:t>
                      </a:r>
                      <a:endParaRPr lang="en-US" sz="1200" noProof="1">
                        <a:solidFill>
                          <a:srgbClr val="FFFFFF"/>
                        </a:solidFill>
                        <a:highlight>
                          <a:srgbClr val="C0562F"/>
                        </a:highlight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code-label"/>
          <p:cNvSpPr txBox="1"/>
          <p:nvPr/>
        </p:nvSpPr>
        <p:spPr>
          <a:xfrm>
            <a:off x="7493000" y="24130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清洗关键代码</a:t>
            </a:r>
            <a:endParaRPr lang="en-US" sz="1300" noProof="1"/>
          </a:p>
        </p:txBody>
      </p:sp>
      <p:sp>
        <p:nvSpPr>
          <p:cNvPr id="17" name="code-bg"/>
          <p:cNvSpPr/>
          <p:nvPr/>
        </p:nvSpPr>
        <p:spPr>
          <a:xfrm>
            <a:off x="7493000" y="2717800"/>
            <a:ext cx="4191000" cy="1905000"/>
          </a:xfrm>
          <a:prstGeom prst="rect">
            <a:avLst/>
          </a:prstGeom>
          <a:solidFill>
            <a:srgbClr val="232A30"/>
          </a:solidFill>
          <a:ln>
            <a:noFill/>
          </a:ln>
        </p:spPr>
      </p:sp>
      <p:sp>
        <p:nvSpPr>
          <p:cNvPr id="18" name="code-text"/>
          <p:cNvSpPr txBox="1"/>
          <p:nvPr/>
        </p:nvSpPr>
        <p:spPr>
          <a:xfrm>
            <a:off x="7670800" y="2844800"/>
            <a:ext cx="38608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df.columns = df.columns.str.strip()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.str.replace(r"\s+", " ")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df["DateTime"] = pd.to_datetime(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df["DateTime"], format="%m/%d/%Y %H:%M")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assert df["DateTime"].is_monotonic_increasing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assert df["DateTime"].diff().dropna()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.eq(pd.Timedelta(minutes=10)).all()</a:t>
            </a:r>
            <a:endParaRPr lang="en-US" sz="1050" noProof="1"/>
          </a:p>
        </p:txBody>
      </p:sp>
      <p:sp>
        <p:nvSpPr>
          <p:cNvPr id="19" name="audit-note"/>
          <p:cNvSpPr txBox="1"/>
          <p:nvPr/>
        </p:nvSpPr>
        <p:spPr>
          <a:xfrm>
            <a:off x="7493000" y="4775200"/>
            <a:ext cx="419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区域 3 有 </a:t>
            </a:r>
            <a:r>
              <a:rPr lang="en-US" sz="115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18 个点</a:t>
            </a:r>
            <a:r>
              <a:rPr lang="en-US" sz="115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超出 3×IQR，全部落在 </a:t>
            </a:r>
            <a:r>
              <a:rPr lang="en-US" sz="1150" b="1" noProof="1">
                <a:solidFill>
                  <a:srgbClr val="6E767C"/>
                </a:solidFill>
                <a:latin typeface="MiSans" charset="-122"/>
                <a:ea typeface="MiSans" charset="-122"/>
              </a:rPr>
              <a:t>7 月 19–20 时</a:t>
            </a:r>
            <a:r>
              <a:rPr lang="en-US" sz="115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——属夏季晚高峰的真实用电行为而非录入错误，故保留原值。</a:t>
            </a:r>
            <a:endParaRPr lang="en-US" sz="1150" noProof="1"/>
          </a:p>
        </p:txBody>
      </p:sp>
      <p:sp>
        <p:nvSpPr>
          <p:cNvPr id="20" name="split-note"/>
          <p:cNvSpPr txBox="1"/>
          <p:nvPr/>
        </p:nvSpPr>
        <p:spPr>
          <a:xfrm>
            <a:off x="508000" y="5588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对建模的意义：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时间戳连续无缺口，支持把"提前 1 小时预测"严格定义为 </a:t>
            </a:r>
            <a:r>
              <a:rPr lang="en-US" sz="1400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 y(t+6)（6 个 10 分钟步长）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；全年 364 天数据按时间顺序可切出训练 / 验证 / 测试三个互不重叠的子集。</a:t>
            </a: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1" name="foot-line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22" name="foot"/>
          <p:cNvSpPr txBox="1"/>
          <p:nvPr/>
        </p:nvSpPr>
        <p:spPr>
          <a:xfrm>
            <a:off x="508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数据来源：课程下发数据（题4_城市电力负荷.csv）；审计明细见 docs/data_audit.md</a:t>
            </a:r>
            <a:endParaRPr lang="en-US" sz="1000" noProof="1"/>
          </a:p>
        </p:txBody>
      </p:sp>
      <p:sp>
        <p:nvSpPr>
          <p:cNvPr id="23" name="page-num"/>
          <p:cNvSpPr txBox="1"/>
          <p:nvPr/>
        </p:nvSpPr>
        <p:spPr>
          <a:xfrm>
            <a:off x="11176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3 / 10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508000" y="431800"/>
            <a:ext cx="76200" cy="3302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3" name="hdr-title"/>
          <p:cNvSpPr txBox="1"/>
          <p:nvPr/>
        </p:nvSpPr>
        <p:spPr>
          <a:xfrm>
            <a:off x="711200" y="406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探索性数据分析：负荷的周期规律</a:t>
            </a:r>
            <a:endParaRPr lang="en-US" sz="2600" noProof="1"/>
          </a:p>
        </p:txBody>
      </p:sp>
      <p:sp>
        <p:nvSpPr>
          <p:cNvPr id="4" name="hdr-tag"/>
          <p:cNvSpPr txBox="1"/>
          <p:nvPr/>
        </p:nvSpPr>
        <p:spPr>
          <a:xfrm>
            <a:off x="9906000" y="482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03 · 数据探索</a:t>
            </a:r>
            <a:endParaRPr lang="en-US" sz="1100" noProof="1"/>
          </a:p>
        </p:txBody>
      </p:sp>
      <p:sp>
        <p:nvSpPr>
          <p:cNvPr id="5" name="hdr-line"/>
          <p:cNvSpPr/>
          <p:nvPr/>
        </p:nvSpPr>
        <p:spPr>
          <a:xfrm>
            <a:off x="508000" y="8890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pic>
        <p:nvPicPr>
          <p:cNvPr id="6" name="fig2-img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-54" b="-54"/>
          <a:stretch>
            <a:fillRect/>
          </a:stretch>
        </p:blipFill>
        <p:spPr>
          <a:xfrm>
            <a:off x="508000" y="1117600"/>
            <a:ext cx="7112000" cy="2197100"/>
          </a:xfrm>
          <a:prstGeom prst="rect">
            <a:avLst/>
          </a:prstGeom>
          <a:ln>
            <a:noFill/>
          </a:ln>
        </p:spPr>
      </p:pic>
      <p:sp>
        <p:nvSpPr>
          <p:cNvPr id="7" name="fig2-cap"/>
          <p:cNvSpPr txBox="1"/>
          <p:nvPr/>
        </p:nvSpPr>
        <p:spPr>
          <a:xfrm>
            <a:off x="1325245" y="3335655"/>
            <a:ext cx="557911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图 1　日内负荷曲线（工作日实线 / 周末虚线）：三区共享"凌晨谷 — 午间平台 — 20 时峰"结构</a:t>
            </a:r>
            <a:endParaRPr lang="en-US" sz="1000" noProof="1"/>
          </a:p>
        </p:txBody>
      </p:sp>
      <p:pic>
        <p:nvPicPr>
          <p:cNvPr id="8" name="fig5-img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-2" b="-2"/>
          <a:stretch>
            <a:fillRect/>
          </a:stretch>
        </p:blipFill>
        <p:spPr>
          <a:xfrm>
            <a:off x="7874000" y="1117600"/>
            <a:ext cx="3810000" cy="3352800"/>
          </a:xfrm>
          <a:prstGeom prst="rect">
            <a:avLst/>
          </a:prstGeom>
          <a:ln>
            <a:noFill/>
          </a:ln>
        </p:spPr>
      </p:pic>
      <p:sp>
        <p:nvSpPr>
          <p:cNvPr id="9" name="fig5-cap"/>
          <p:cNvSpPr txBox="1"/>
          <p:nvPr/>
        </p:nvSpPr>
        <p:spPr>
          <a:xfrm>
            <a:off x="8362950" y="4509135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图 2　天气因子与三区域负荷的 Pearson 相关系数</a:t>
            </a:r>
            <a:endParaRPr lang="en-US" sz="1000" noProof="1"/>
          </a:p>
        </p:txBody>
      </p:sp>
      <p:graphicFrame>
        <p:nvGraphicFramePr>
          <p:cNvPr id="10" name="eda-summary-table"/>
          <p:cNvGraphicFramePr>
            <a:graphicFrameLocks noGrp="1"/>
          </p:cNvGraphicFramePr>
          <p:nvPr/>
        </p:nvGraphicFramePr>
        <p:xfrm>
          <a:off x="508000" y="3708400"/>
          <a:ext cx="7112000" cy="1625600"/>
        </p:xfrm>
        <a:graphic>
          <a:graphicData uri="http://schemas.openxmlformats.org/drawingml/2006/table">
            <a:tbl>
              <a:tblPr/>
              <a:tblGrid>
                <a:gridCol w="1991360"/>
                <a:gridCol w="1706880"/>
                <a:gridCol w="1706880"/>
                <a:gridCol w="1706880"/>
              </a:tblGrid>
              <a:tr h="40640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指标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区域 1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区域 2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区域 3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</a:tr>
              <a:tr h="4064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全年日均负荷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32,345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21,043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17,835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峰谷比（20 时 / 6 时）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1.89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1.89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C0562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2.23</a:t>
                      </a:r>
                      <a:endParaRPr lang="en-US" sz="1200" b="1" noProof="1">
                        <a:solidFill>
                          <a:srgbClr val="C0562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夏冬比 · 日峰值变异系数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1.17 · 7.4%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1.12 · 12.5%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C0562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1.59 · 27.7%</a:t>
                      </a:r>
                      <a:endParaRPr lang="en-US" sz="1200" b="1" noProof="1">
                        <a:solidFill>
                          <a:srgbClr val="C0562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eda-summary-cap"/>
          <p:cNvSpPr txBox="1"/>
          <p:nvPr/>
        </p:nvSpPr>
        <p:spPr>
          <a:xfrm>
            <a:off x="508000" y="53848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表 1　三区域负荷特征汇总：量级、日内波动与季节敏感度差异显著</a:t>
            </a:r>
            <a:endParaRPr lang="en-US" sz="1000" noProof="1"/>
          </a:p>
        </p:txBody>
      </p:sp>
      <p:sp>
        <p:nvSpPr>
          <p:cNvPr id="12" name="eda-findings"/>
          <p:cNvSpPr txBox="1"/>
          <p:nvPr/>
        </p:nvSpPr>
        <p:spPr>
          <a:xfrm>
            <a:off x="508000" y="5718175"/>
            <a:ext cx="1117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对建模的意义：</a:t>
            </a:r>
            <a:r>
              <a:rPr lang="en-US" sz="1200" b="1" noProof="1">
                <a:solidFill>
                  <a:schemeClr val="tx1"/>
                </a:solidFill>
                <a:latin typeface="MiSans" charset="-122"/>
                <a:ea typeface="MiSans" charset="-122"/>
              </a:rPr>
              <a:t>日 / 周 / 季节三尺度规律稳定——三个区域 97% 以上的日子峰值落在 18–21 时—— 滞后 24h / 168h（一周前同一时刻）的特征有稳定依据，即后文的周同期特征 ；温度与负荷强相关（区域 3 最敏感），支撑天气特征入模；区域 3 日峰值变异系数 27.7%，预示其最难预测。</a:t>
            </a:r>
            <a:endParaRPr lang="en-US" sz="1200" b="1" noProof="1">
              <a:solidFill>
                <a:schemeClr val="tx1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3" name="corr-note"/>
          <p:cNvSpPr txBox="1"/>
          <p:nvPr/>
        </p:nvSpPr>
        <p:spPr>
          <a:xfrm>
            <a:off x="7874000" y="4766310"/>
            <a:ext cx="3810000" cy="922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周内：区域 1/2 周末低于工作日（−3.6% / −8.2%），区域 3 无星期效应。热力图：温度正相关最强 0.38–0.49、湿度负相关 −0.23 ~ −0.30、风速弱正相关 0.15–0.28；区域 3 对温度最敏感，与其夏冬比 1.59 互证。</a:t>
            </a:r>
            <a:endParaRPr lang="en-US" sz="1150" noProof="1"/>
          </a:p>
        </p:txBody>
      </p:sp>
      <p:sp>
        <p:nvSpPr>
          <p:cNvPr id="14" name="foot-line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15" name="foot"/>
          <p:cNvSpPr txBox="1"/>
          <p:nvPr/>
        </p:nvSpPr>
        <p:spPr>
          <a:xfrm>
            <a:off x="508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统计范围：2017-01-01 至 2017-12-30，52,416 条 10 分钟观测；明细见 outputs/metrics/eda_*.csv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1176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4 / 10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508000" y="431800"/>
            <a:ext cx="76200" cy="3302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3" name="hdr-title"/>
          <p:cNvSpPr txBox="1"/>
          <p:nvPr/>
        </p:nvSpPr>
        <p:spPr>
          <a:xfrm>
            <a:off x="711200" y="406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预测方案与最终模型结果</a:t>
            </a:r>
            <a:endParaRPr lang="en-US" sz="2600" noProof="1"/>
          </a:p>
        </p:txBody>
      </p:sp>
      <p:sp>
        <p:nvSpPr>
          <p:cNvPr id="4" name="hdr-tag"/>
          <p:cNvSpPr txBox="1"/>
          <p:nvPr/>
        </p:nvSpPr>
        <p:spPr>
          <a:xfrm>
            <a:off x="9906000" y="482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04 · 建模方案</a:t>
            </a:r>
            <a:endParaRPr lang="en-US" sz="1100" noProof="1"/>
          </a:p>
        </p:txBody>
      </p:sp>
      <p:sp>
        <p:nvSpPr>
          <p:cNvPr id="5" name="hdr-line"/>
          <p:cNvSpPr/>
          <p:nvPr/>
        </p:nvSpPr>
        <p:spPr>
          <a:xfrm>
            <a:off x="508000" y="8890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6" name="setup-text"/>
          <p:cNvSpPr txBox="1"/>
          <p:nvPr/>
        </p:nvSpPr>
        <p:spPr>
          <a:xfrm>
            <a:off x="690880" y="1222375"/>
            <a:ext cx="4826000" cy="3320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3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预测目标　</a:t>
            </a:r>
            <a:r>
              <a:rPr lang="en-US" sz="13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y(t+6)：预测起点 t 之后 1 小时的负荷，三区域分别建模、共用同一切分</a:t>
            </a:r>
            <a:r>
              <a:rPr lang="zh-CN" altLang="en-US" sz="13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。</a:t>
            </a:r>
            <a:endParaRPr lang="en-US" sz="13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lang="en-US" sz="13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数据切分　</a:t>
            </a:r>
            <a:r>
              <a:rPr lang="en-US" sz="13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严格按时间顺序 </a:t>
            </a:r>
            <a:r>
              <a:rPr lang="en-US" sz="12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70%/15%/15%</a:t>
            </a:r>
            <a:r>
              <a:rPr lang="en-US" sz="13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：训练 01-08–09-14（35,975 条/区）、验证 09-14–11-07（7,704 条/区）、测试 11-07–12-30（7,711 条/区</a:t>
            </a:r>
            <a:r>
              <a:rPr lang="zh-CN" altLang="en-US" sz="13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）。</a:t>
            </a:r>
            <a:r>
              <a:rPr lang="en-US" sz="1300">
                <a:solidFill>
                  <a:srgbClr val="232A30"/>
                </a:solidFill>
                <a:latin typeface="MiSans" charset="-122"/>
                <a:ea typeface="MiSans" charset="-122"/>
                <a:sym typeface="+mn-ea"/>
              </a:rPr>
              <a:t>训练/验证末尾各剔除 6 个起点</a:t>
            </a:r>
            <a:r>
              <a:rPr lang="zh-CN" altLang="en-US" sz="1300">
                <a:solidFill>
                  <a:srgbClr val="232A30"/>
                </a:solidFill>
                <a:latin typeface="MiSans" charset="-122"/>
                <a:ea typeface="MiSans" charset="-122"/>
                <a:sym typeface="+mn-ea"/>
              </a:rPr>
              <a:t>。</a:t>
            </a:r>
            <a:endParaRPr lang="en-US" sz="1300" noProof="1"/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lang="en-US" sz="13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三个模型</a:t>
            </a:r>
            <a:endParaRPr lang="en-US" sz="1300" noProof="1"/>
          </a:p>
          <a:p>
            <a:pPr>
              <a:lnSpc>
                <a:spcPct val="118000"/>
              </a:lnSpc>
            </a:pPr>
            <a:r>
              <a:rPr lang="en-US" sz="13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· 历史同期基线　</a:t>
            </a:r>
            <a:r>
              <a:rPr lang="en-US" sz="13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ŷ(t+6) = y(t−1002)</a:t>
            </a:r>
            <a:r>
              <a:rPr lang="en-US" sz="13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　——取目标时刻</a:t>
            </a:r>
            <a:r>
              <a:rPr lang="en-US" sz="1200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上一周的同期负荷</a:t>
            </a:r>
            <a:r>
              <a:rPr lang="en-US" sz="13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，零训练成本、完全可解释</a:t>
            </a:r>
            <a:endParaRPr lang="en-US" sz="1300" noProof="1"/>
          </a:p>
          <a:p>
            <a:pPr>
              <a:lnSpc>
                <a:spcPct val="118000"/>
              </a:lnSpc>
            </a:pPr>
            <a:r>
              <a:rPr lang="en-US" sz="13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· 线性回归 LR　</a:t>
            </a:r>
            <a:r>
              <a:rPr lang="en-US" sz="13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14 个主特征 = 4 个负荷滞后（当前 / 1h / 24h / 7d）＋ 5 个时间特征 ＋ 5 项起点天气；最终配置再加目标对齐周同期，标准化仅训练集拟合</a:t>
            </a:r>
            <a:endParaRPr lang="en-US" sz="1300" noProof="1"/>
          </a:p>
          <a:p>
            <a:pPr>
              <a:lnSpc>
                <a:spcPct val="118000"/>
              </a:lnSpc>
            </a:pPr>
            <a:r>
              <a:rPr lang="en-US" sz="13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· 梯度提升树 GBT　</a:t>
            </a:r>
            <a:r>
              <a:rPr lang="en-US" sz="13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HistGradientBoosting：逐区在验证集上网格调参（迭代轮数 / 学习率 / 树深），</a:t>
            </a:r>
            <a:r>
              <a:rPr lang="en-US" sz="1200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拟合非线性</a:t>
            </a:r>
            <a:r>
              <a:rPr lang="en-US" sz="13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与特征交互</a:t>
            </a:r>
            <a:endParaRPr lang="en-US" sz="1300" noProof="1"/>
          </a:p>
        </p:txBody>
      </p:sp>
      <p:graphicFrame>
        <p:nvGraphicFramePr>
          <p:cNvPr id="8" name="model-chart"/>
          <p:cNvGraphicFramePr/>
          <p:nvPr/>
        </p:nvGraphicFramePr>
        <p:xfrm>
          <a:off x="5662295" y="1106170"/>
          <a:ext cx="6096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chart-cap"/>
          <p:cNvSpPr txBox="1"/>
          <p:nvPr/>
        </p:nvSpPr>
        <p:spPr>
          <a:xfrm>
            <a:off x="6901180" y="4343400"/>
            <a:ext cx="396494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图 3　最终特征配置下三模型测试集指标（三区域合并，越低越好）</a:t>
            </a:r>
            <a:endParaRPr lang="en-US" sz="1000" noProof="1"/>
          </a:p>
        </p:txBody>
      </p:sp>
      <p:sp>
        <p:nvSpPr>
          <p:cNvPr id="10" name="finding-band"/>
          <p:cNvSpPr/>
          <p:nvPr/>
        </p:nvSpPr>
        <p:spPr>
          <a:xfrm>
            <a:off x="508000" y="4724400"/>
            <a:ext cx="11176000" cy="12192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11" name="finding-text"/>
          <p:cNvSpPr txBox="1"/>
          <p:nvPr/>
        </p:nvSpPr>
        <p:spPr>
          <a:xfrm>
            <a:off x="812800" y="4851400"/>
            <a:ext cx="105664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最终结果：学习模型全面超越历史同期基线，LR 最优。</a:t>
            </a:r>
            <a:endParaRPr lang="en-US" sz="1300" noProof="1"/>
          </a:p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LR 合并 MAE/RMSE 514.09 / 767.16，相对基线 −51.1% / −53.3%；GBT 930.62 / 1258.73，相对基线 −11.4% / −23.4%；同口径 MSE：LR 5.89×10⁵ ｜ GBT 1.58×10⁶ ｜ 基线 2.70×10⁶。</a:t>
            </a:r>
            <a:endParaRPr lang="en-US" sz="1300" noProof="1"/>
          </a:p>
        </p:txBody>
      </p:sp>
      <p:sp>
        <p:nvSpPr>
          <p:cNvPr id="12" name="foot-line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13" name="foot"/>
          <p:cNvSpPr txBox="1"/>
          <p:nvPr/>
        </p:nvSpPr>
        <p:spPr>
          <a:xfrm>
            <a:off x="508000" y="6502400"/>
            <a:ext cx="947039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切分边界与防泄漏核对见 docs/experiment_plan.md；最终指标见 outputs/metrics/error_overall_tw.csv；周同期特征探针见 probe_target_week_summary.csv</a:t>
            </a:r>
            <a:endParaRPr lang="en-US" sz="1000" noProof="1"/>
          </a:p>
        </p:txBody>
      </p:sp>
      <p:sp>
        <p:nvSpPr>
          <p:cNvPr id="14" name="page-num"/>
          <p:cNvSpPr txBox="1"/>
          <p:nvPr/>
        </p:nvSpPr>
        <p:spPr>
          <a:xfrm>
            <a:off x="11176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5 / 10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l-arrow-week"/>
          <p:cNvSpPr/>
          <p:nvPr/>
        </p:nvSpPr>
        <p:spPr>
          <a:xfrm>
            <a:off x="1034415" y="1410970"/>
            <a:ext cx="4223385" cy="806450"/>
          </a:xfrm>
          <a:custGeom>
            <a:avLst/>
            <a:gdLst/>
            <a:ahLst/>
            <a:cxnLst/>
            <a:rect l="l" t="t" r="r" b="b"/>
            <a:pathLst>
              <a:path w="330" h="60">
                <a:moveTo>
                  <a:pt x="0" y="60"/>
                </a:moveTo>
                <a:quadBezTo>
                  <a:pt x="165" y="0"/>
                  <a:pt x="330" y="60"/>
                </a:quadBezTo>
              </a:path>
            </a:pathLst>
          </a:custGeom>
          <a:noFill/>
          <a:ln w="19050" cap="rnd">
            <a:solidFill>
              <a:srgbClr val="2E7D74"/>
            </a:solidFill>
            <a:prstDash val="dash"/>
            <a:round/>
          </a:ln>
        </p:spPr>
      </p:sp>
      <p:sp>
        <p:nvSpPr>
          <p:cNvPr id="2" name="hdr-bar"/>
          <p:cNvSpPr/>
          <p:nvPr/>
        </p:nvSpPr>
        <p:spPr>
          <a:xfrm>
            <a:off x="508000" y="431800"/>
            <a:ext cx="76200" cy="3302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3" name="hdr-title"/>
          <p:cNvSpPr txBox="1"/>
          <p:nvPr/>
        </p:nvSpPr>
        <p:spPr>
          <a:xfrm>
            <a:off x="711200" y="406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核心特征设计：目标时刻对齐的周同期特征</a:t>
            </a:r>
            <a:endParaRPr lang="en-US" sz="2600" noProof="1"/>
          </a:p>
        </p:txBody>
      </p:sp>
      <p:sp>
        <p:nvSpPr>
          <p:cNvPr id="4" name="hdr-tag"/>
          <p:cNvSpPr txBox="1"/>
          <p:nvPr/>
        </p:nvSpPr>
        <p:spPr>
          <a:xfrm>
            <a:off x="9906000" y="482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05 · 特征工程</a:t>
            </a:r>
            <a:endParaRPr lang="en-US" sz="1100" noProof="1"/>
          </a:p>
        </p:txBody>
      </p:sp>
      <p:sp>
        <p:nvSpPr>
          <p:cNvPr id="5" name="hdr-line"/>
          <p:cNvSpPr/>
          <p:nvPr/>
        </p:nvSpPr>
        <p:spPr>
          <a:xfrm>
            <a:off x="508000" y="8890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6" name="diag-label"/>
          <p:cNvSpPr txBox="1"/>
          <p:nvPr/>
        </p:nvSpPr>
        <p:spPr>
          <a:xfrm>
            <a:off x="508000" y="127762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时间对齐：特征、基线与预测目标严格同源</a:t>
            </a:r>
            <a:endParaRPr lang="en-US" sz="1300" noProof="1"/>
          </a:p>
        </p:txBody>
      </p:sp>
      <p:sp>
        <p:nvSpPr>
          <p:cNvPr id="7" name="tl-line"/>
          <p:cNvSpPr/>
          <p:nvPr/>
        </p:nvSpPr>
        <p:spPr>
          <a:xfrm>
            <a:off x="762000" y="2446020"/>
            <a:ext cx="6350000" cy="25400"/>
          </a:xfrm>
          <a:prstGeom prst="rect">
            <a:avLst/>
          </a:prstGeom>
          <a:solidFill>
            <a:srgbClr val="6E767C"/>
          </a:solidFill>
          <a:ln>
            <a:noFill/>
          </a:ln>
        </p:spPr>
      </p:sp>
      <p:sp>
        <p:nvSpPr>
          <p:cNvPr id="8" name="tl-week"/>
          <p:cNvSpPr/>
          <p:nvPr/>
        </p:nvSpPr>
        <p:spPr>
          <a:xfrm>
            <a:off x="889000" y="2293620"/>
            <a:ext cx="177800" cy="330200"/>
          </a:xfrm>
          <a:prstGeom prst="rect">
            <a:avLst/>
          </a:prstGeom>
          <a:solidFill>
            <a:srgbClr val="2E7D74"/>
          </a:solidFill>
          <a:ln>
            <a:noFill/>
          </a:ln>
        </p:spPr>
      </p:sp>
      <p:sp>
        <p:nvSpPr>
          <p:cNvPr id="9" name="tl-week-label"/>
          <p:cNvSpPr txBox="1"/>
          <p:nvPr/>
        </p:nvSpPr>
        <p:spPr>
          <a:xfrm>
            <a:off x="191135" y="258445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ctr">
              <a:lnSpc>
                <a:spcPct val="125000"/>
              </a:lnSpc>
            </a:pPr>
            <a:r>
              <a:rPr lang="en-US" sz="11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一周前同一时刻</a:t>
            </a:r>
            <a:endParaRPr lang="en-US" sz="1100" noProof="1"/>
          </a:p>
          <a:p>
            <a:pPr algn="ctr">
              <a:lnSpc>
                <a:spcPct val="125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y(t−1002)，已可观测</a:t>
            </a:r>
            <a:endParaRPr lang="en-US" sz="1100" noProof="1"/>
          </a:p>
        </p:txBody>
      </p:sp>
      <p:sp>
        <p:nvSpPr>
          <p:cNvPr id="11" name="tl-week-head"/>
          <p:cNvSpPr/>
          <p:nvPr/>
        </p:nvSpPr>
        <p:spPr>
          <a:xfrm rot="8100000">
            <a:off x="5236210" y="2179320"/>
            <a:ext cx="127000" cy="127000"/>
          </a:xfrm>
          <a:prstGeom prst="triangle">
            <a:avLst/>
          </a:prstGeom>
          <a:solidFill>
            <a:srgbClr val="2E7D74"/>
          </a:solidFill>
          <a:ln>
            <a:noFill/>
          </a:ln>
        </p:spPr>
      </p:sp>
      <p:sp>
        <p:nvSpPr>
          <p:cNvPr id="12" name="tl-arrow-week-label"/>
          <p:cNvSpPr txBox="1"/>
          <p:nvPr/>
        </p:nvSpPr>
        <p:spPr>
          <a:xfrm>
            <a:off x="1905000" y="252222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2E7D74"/>
                </a:solidFill>
                <a:latin typeface="MiSans" charset="-122"/>
                <a:ea typeface="MiSans" charset="-122"/>
              </a:rPr>
              <a:t>周同期特征与基线共用此历史值</a:t>
            </a:r>
            <a:endParaRPr lang="en-US" sz="1100" noProof="1"/>
          </a:p>
        </p:txBody>
      </p:sp>
      <p:sp>
        <p:nvSpPr>
          <p:cNvPr id="13" name="tl-start"/>
          <p:cNvSpPr/>
          <p:nvPr/>
        </p:nvSpPr>
        <p:spPr>
          <a:xfrm>
            <a:off x="5334000" y="2293620"/>
            <a:ext cx="177800" cy="330200"/>
          </a:xfrm>
          <a:prstGeom prst="rect">
            <a:avLst/>
          </a:prstGeom>
          <a:solidFill>
            <a:srgbClr val="16424B"/>
          </a:solidFill>
          <a:ln>
            <a:noFill/>
          </a:ln>
        </p:spPr>
      </p:sp>
      <p:sp>
        <p:nvSpPr>
          <p:cNvPr id="14" name="tl-start-label"/>
          <p:cNvSpPr txBox="1"/>
          <p:nvPr/>
        </p:nvSpPr>
        <p:spPr>
          <a:xfrm>
            <a:off x="4572000" y="2700020"/>
            <a:ext cx="1778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1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预测起点 t</a:t>
            </a:r>
            <a:endParaRPr lang="en-US" sz="1100" noProof="1"/>
          </a:p>
          <a:p>
            <a:pPr algn="ctr">
              <a:lnSpc>
                <a:spcPct val="125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特征在此刻全部可得</a:t>
            </a:r>
            <a:endParaRPr lang="en-US" sz="1100" noProof="1"/>
          </a:p>
        </p:txBody>
      </p:sp>
      <p:sp>
        <p:nvSpPr>
          <p:cNvPr id="15" name="tl-target"/>
          <p:cNvSpPr/>
          <p:nvPr/>
        </p:nvSpPr>
        <p:spPr>
          <a:xfrm>
            <a:off x="6350000" y="2268220"/>
            <a:ext cx="203200" cy="3810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16" name="tl-target-label"/>
          <p:cNvSpPr txBox="1"/>
          <p:nvPr/>
        </p:nvSpPr>
        <p:spPr>
          <a:xfrm>
            <a:off x="5637530" y="270002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1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目标时刻 t+6</a:t>
            </a:r>
            <a:endParaRPr lang="en-US" sz="1100" noProof="1"/>
          </a:p>
          <a:p>
            <a:pPr algn="ctr">
              <a:lnSpc>
                <a:spcPct val="125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1 小时后</a:t>
            </a:r>
            <a:endParaRPr lang="en-US" sz="1100" noProof="1"/>
          </a:p>
        </p:txBody>
      </p:sp>
      <p:sp>
        <p:nvSpPr>
          <p:cNvPr id="17" name="tl-gap-arrow"/>
          <p:cNvSpPr/>
          <p:nvPr/>
        </p:nvSpPr>
        <p:spPr>
          <a:xfrm>
            <a:off x="5668645" y="2254885"/>
            <a:ext cx="647065" cy="207010"/>
          </a:xfrm>
          <a:custGeom>
            <a:avLst/>
            <a:gdLst/>
            <a:ahLst/>
            <a:cxnLst/>
            <a:rect l="l" t="t" r="r" b="b"/>
            <a:pathLst>
              <a:path w="66" h="14">
                <a:moveTo>
                  <a:pt x="0" y="7"/>
                </a:moveTo>
                <a:lnTo>
                  <a:pt x="66" y="7"/>
                </a:lnTo>
              </a:path>
            </a:pathLst>
          </a:custGeom>
          <a:noFill/>
          <a:ln w="19050" cap="rnd">
            <a:solidFill>
              <a:srgbClr val="C0562F"/>
            </a:solidFill>
            <a:round/>
          </a:ln>
        </p:spPr>
      </p:sp>
      <p:sp>
        <p:nvSpPr>
          <p:cNvPr id="18" name="tl-gap-head"/>
          <p:cNvSpPr/>
          <p:nvPr/>
        </p:nvSpPr>
        <p:spPr>
          <a:xfrm rot="5400000">
            <a:off x="6211570" y="2293620"/>
            <a:ext cx="127000" cy="127000"/>
          </a:xfrm>
          <a:prstGeom prst="triangle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19" name="diag-note"/>
          <p:cNvSpPr txBox="1"/>
          <p:nvPr/>
        </p:nvSpPr>
        <p:spPr>
          <a:xfrm>
            <a:off x="508000" y="35814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周同期特征取目标时刻 t+6 的上一周同期值 y(t−1002)，与基线、预测目标时刻严格对齐；该值在预测起点已可观测，不构成未来信息，部署条件与基线完全相同。</a:t>
            </a:r>
            <a:endParaRPr lang="en-US" sz="1150" noProof="1"/>
          </a:p>
        </p:txBody>
      </p:sp>
      <p:sp>
        <p:nvSpPr>
          <p:cNvPr id="20" name="fix-label"/>
          <p:cNvSpPr txBox="1"/>
          <p:nvPr/>
        </p:nvSpPr>
        <p:spPr>
          <a:xfrm>
            <a:off x="7620000" y="148082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特征构造与有效性依据</a:t>
            </a:r>
            <a:endParaRPr lang="en-US" sz="1300" noProof="1"/>
          </a:p>
        </p:txBody>
      </p:sp>
      <p:sp>
        <p:nvSpPr>
          <p:cNvPr id="21" name="fix-code-bg"/>
          <p:cNvSpPr/>
          <p:nvPr/>
        </p:nvSpPr>
        <p:spPr>
          <a:xfrm>
            <a:off x="7620000" y="1811020"/>
            <a:ext cx="4064000" cy="1219200"/>
          </a:xfrm>
          <a:prstGeom prst="rect">
            <a:avLst/>
          </a:prstGeom>
          <a:solidFill>
            <a:srgbClr val="232A30"/>
          </a:solidFill>
          <a:ln>
            <a:noFill/>
          </a:ln>
        </p:spPr>
      </p:sp>
      <p:sp>
        <p:nvSpPr>
          <p:cNvPr id="22" name="fix-code"/>
          <p:cNvSpPr txBox="1"/>
          <p:nvPr/>
        </p:nvSpPr>
        <p:spPr>
          <a:xfrm>
            <a:off x="7772400" y="1882140"/>
            <a:ext cx="3759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# src/features.py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TARGET_WEEK_LAG = 1002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df["load_target_week"] = \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df["load"].shift(1002)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DDE3E6"/>
                </a:solidFill>
                <a:latin typeface="Consolas" panose="020B0609020204030204"/>
                <a:ea typeface="Consolas" panose="020B0609020204030204"/>
              </a:rPr>
              <a:t># = 目标时刻 t+6 的上周同期值</a:t>
            </a:r>
            <a:endParaRPr lang="en-US" sz="1050" noProof="1"/>
          </a:p>
        </p:txBody>
      </p:sp>
      <p:sp>
        <p:nvSpPr>
          <p:cNvPr id="23" name="fix-note"/>
          <p:cNvSpPr txBox="1"/>
          <p:nvPr/>
        </p:nvSpPr>
        <p:spPr>
          <a:xfrm>
            <a:off x="7620000" y="345059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有效性来自 EDA：三区 97%+ 的日子峰值落在 18–21 时，周同期值是强预测子；模型再用小时、天气等特征对其修正，因此稳定优于基线。</a:t>
            </a:r>
            <a:endParaRPr lang="en-US" sz="1150" noProof="1"/>
          </a:p>
        </p:txBody>
      </p:sp>
      <p:graphicFrame>
        <p:nvGraphicFramePr>
          <p:cNvPr id="24" name="cmp-table"/>
          <p:cNvGraphicFramePr>
            <a:graphicFrameLocks noGrp="1"/>
          </p:cNvGraphicFramePr>
          <p:nvPr/>
        </p:nvGraphicFramePr>
        <p:xfrm>
          <a:off x="508000" y="4384040"/>
          <a:ext cx="11176000" cy="1524000"/>
        </p:xfrm>
        <a:graphic>
          <a:graphicData uri="http://schemas.openxmlformats.org/drawingml/2006/table">
            <a:tbl>
              <a:tblPr/>
              <a:tblGrid>
                <a:gridCol w="3352800"/>
                <a:gridCol w="2604008"/>
                <a:gridCol w="2604008"/>
                <a:gridCol w="2615184"/>
              </a:tblGrid>
              <a:tr h="38100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测试集 nRMSE（%，越低越好）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区域 1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区域 2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区域 3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</a:tr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历史同期基线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3.96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5.81</a:t>
                      </a:r>
                      <a:endParaRPr lang="en-US" sz="1200" b="1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highlight>
                            <a:srgbClr val="C0562F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18.55</a:t>
                      </a:r>
                      <a:endParaRPr lang="en-US" sz="1200" b="1" noProof="1">
                        <a:solidFill>
                          <a:srgbClr val="FFFFFF"/>
                        </a:solidFill>
                        <a:highlight>
                          <a:srgbClr val="C0562F"/>
                        </a:highlight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线性回归 LR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highlight>
                            <a:srgbClr val="C0562F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2.68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highlight>
                            <a:srgbClr val="C0562F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3.10</a:t>
                      </a:r>
                      <a:endParaRPr lang="en-US" sz="1200" b="1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highlight>
                            <a:srgbClr val="C0562F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6.63</a:t>
                      </a:r>
                      <a:endParaRPr lang="en-US" sz="1200" b="1" noProof="1">
                        <a:solidFill>
                          <a:srgbClr val="FFFFFF"/>
                        </a:solidFill>
                        <a:highlight>
                          <a:srgbClr val="C0562F"/>
                        </a:highlight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梯度提升树 GBT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4.14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4.75</a:t>
                      </a:r>
                      <a:endParaRPr lang="en-US" sz="1200" b="1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highlight>
                            <a:srgbClr val="C0562F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12.01</a:t>
                      </a:r>
                      <a:endParaRPr lang="en-US" sz="1200" b="1" noProof="1">
                        <a:solidFill>
                          <a:srgbClr val="FFFFFF"/>
                        </a:solidFill>
                        <a:highlight>
                          <a:srgbClr val="C0562F"/>
                        </a:highlight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cmp-cap"/>
          <p:cNvSpPr txBox="1"/>
          <p:nvPr/>
        </p:nvSpPr>
        <p:spPr>
          <a:xfrm>
            <a:off x="508000" y="6096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表 2　nRMSE = RMSE / 区域均值：LR 三区均最优；区域 3 对全部模型最难，与其日峰值高波动一致</a:t>
            </a:r>
            <a:endParaRPr lang="en-US" sz="1000" noProof="1"/>
          </a:p>
        </p:txBody>
      </p:sp>
      <p:sp>
        <p:nvSpPr>
          <p:cNvPr id="26" name="foot-line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27" name="foot"/>
          <p:cNvSpPr txBox="1"/>
          <p:nvPr/>
        </p:nvSpPr>
        <p:spPr>
          <a:xfrm>
            <a:off x="508000" y="65405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特征定义见 src/features.py（TARGET_WEEK_LAG）；分区域指标见 outputs/metrics/error_overall_tw.csv（最终配置）</a:t>
            </a:r>
            <a:endParaRPr lang="en-US" sz="1000" noProof="1"/>
          </a:p>
        </p:txBody>
      </p:sp>
      <p:sp>
        <p:nvSpPr>
          <p:cNvPr id="28" name="page-num"/>
          <p:cNvSpPr txBox="1"/>
          <p:nvPr/>
        </p:nvSpPr>
        <p:spPr>
          <a:xfrm>
            <a:off x="11176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6 / 10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508000" y="431800"/>
            <a:ext cx="76200" cy="3302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3" name="hdr-title"/>
          <p:cNvSpPr txBox="1"/>
          <p:nvPr/>
        </p:nvSpPr>
        <p:spPr>
          <a:xfrm>
            <a:off x="711200" y="406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天气特征消融实验</a:t>
            </a:r>
            <a:endParaRPr lang="en-US" sz="2600" noProof="1"/>
          </a:p>
        </p:txBody>
      </p:sp>
      <p:sp>
        <p:nvSpPr>
          <p:cNvPr id="4" name="hdr-tag"/>
          <p:cNvSpPr txBox="1"/>
          <p:nvPr/>
        </p:nvSpPr>
        <p:spPr>
          <a:xfrm>
            <a:off x="9906000" y="482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06 · 消融分析</a:t>
            </a:r>
            <a:endParaRPr lang="en-US" sz="1100" noProof="1"/>
          </a:p>
        </p:txBody>
      </p:sp>
      <p:sp>
        <p:nvSpPr>
          <p:cNvPr id="5" name="hdr-line"/>
          <p:cNvSpPr/>
          <p:nvPr/>
        </p:nvSpPr>
        <p:spPr>
          <a:xfrm>
            <a:off x="508000" y="8890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pic>
        <p:nvPicPr>
          <p:cNvPr id="6" name="abl-img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-114" b="-114"/>
          <a:stretch>
            <a:fillRect/>
          </a:stretch>
        </p:blipFill>
        <p:spPr>
          <a:xfrm>
            <a:off x="371475" y="1229995"/>
            <a:ext cx="6740525" cy="2901950"/>
          </a:xfrm>
          <a:prstGeom prst="rect">
            <a:avLst/>
          </a:prstGeom>
          <a:ln>
            <a:noFill/>
          </a:ln>
        </p:spPr>
      </p:pic>
      <p:sp>
        <p:nvSpPr>
          <p:cNvPr id="7" name="abl-cap"/>
          <p:cNvSpPr txBox="1"/>
          <p:nvPr/>
        </p:nvSpPr>
        <p:spPr>
          <a:xfrm>
            <a:off x="508000" y="4126865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图 4　加入天气特征前后测试集 RMSE 变化（负值 = 误差下降）</a:t>
            </a:r>
            <a:endParaRPr lang="en-US" sz="1000" noProof="1"/>
          </a:p>
        </p:txBody>
      </p:sp>
      <p:graphicFrame>
        <p:nvGraphicFramePr>
          <p:cNvPr id="8" name="abl-table"/>
          <p:cNvGraphicFramePr>
            <a:graphicFrameLocks noGrp="1"/>
          </p:cNvGraphicFramePr>
          <p:nvPr/>
        </p:nvGraphicFramePr>
        <p:xfrm>
          <a:off x="7493000" y="1109980"/>
          <a:ext cx="4191000" cy="2768600"/>
        </p:xfrm>
        <a:graphic>
          <a:graphicData uri="http://schemas.openxmlformats.org/drawingml/2006/table">
            <a:tbl>
              <a:tblPr/>
              <a:tblGrid>
                <a:gridCol w="1424940"/>
                <a:gridCol w="922020"/>
                <a:gridCol w="922020"/>
                <a:gridCol w="922020"/>
              </a:tblGrid>
              <a:tr h="664464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RMSE 变化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区域 1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区域 2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区域 3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6424B"/>
                    </a:solidFill>
                  </a:tcPr>
                </a:tc>
              </a:tr>
              <a:tr h="526034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LR（原特征集）</a:t>
                      </a:r>
                      <a:endParaRPr lang="en-US" sz="11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−23.3%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−4.2%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−34.6%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  <a:tr h="526034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GBT（原特征集）</a:t>
                      </a:r>
                      <a:endParaRPr lang="en-US" sz="11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−23.2%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−10.5%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−5.2%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  <a:tr h="526034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LR（含周同期）</a:t>
                      </a:r>
                      <a:endParaRPr lang="en-US" sz="11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−11.0%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C0562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+5.1%</a:t>
                      </a:r>
                      <a:endParaRPr lang="en-US" sz="1200" b="1" noProof="1">
                        <a:solidFill>
                          <a:srgbClr val="C0562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b="1" noProof="1">
                          <a:solidFill>
                            <a:srgbClr val="C0562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+1.0%</a:t>
                      </a:r>
                      <a:endParaRPr lang="en-US" sz="1200" b="1" noProof="1">
                        <a:solidFill>
                          <a:srgbClr val="C0562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  <a:tr h="526034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GBT（含周同期）</a:t>
                      </a:r>
                      <a:endParaRPr lang="en-US" sz="11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−17.9%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−5.9%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32A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−0.4%</a:t>
                      </a:r>
                      <a:endParaRPr lang="en-US" sz="1200" noProof="1">
                        <a:solidFill>
                          <a:srgbClr val="232A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4C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abl-table-cap"/>
          <p:cNvSpPr txBox="1"/>
          <p:nvPr/>
        </p:nvSpPr>
        <p:spPr>
          <a:xfrm>
            <a:off x="7493000" y="3929380"/>
            <a:ext cx="419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表 3　天气特征消融：测试集 RMSE 相对变化</a:t>
            </a:r>
            <a:endParaRPr lang="en-US" sz="1000" noProof="1"/>
          </a:p>
        </p:txBody>
      </p:sp>
      <p:sp>
        <p:nvSpPr>
          <p:cNvPr id="10" name="concl-band"/>
          <p:cNvSpPr/>
          <p:nvPr/>
        </p:nvSpPr>
        <p:spPr>
          <a:xfrm>
            <a:off x="508000" y="5401310"/>
            <a:ext cx="6604000" cy="5588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11" name="concl-band-text"/>
          <p:cNvSpPr txBox="1"/>
          <p:nvPr/>
        </p:nvSpPr>
        <p:spPr>
          <a:xfrm>
            <a:off x="812800" y="5452110"/>
            <a:ext cx="599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结论：天气特征的预测增益存在明显的模型与区域差异，不能笼统宣称"天气特征显著改善预测"。</a:t>
            </a:r>
            <a:endParaRPr lang="en-US" sz="1350" noProof="1"/>
          </a:p>
        </p:txBody>
      </p:sp>
      <p:sp>
        <p:nvSpPr>
          <p:cNvPr id="12" name="abl-conclusion"/>
          <p:cNvSpPr txBox="1"/>
          <p:nvPr/>
        </p:nvSpPr>
        <p:spPr>
          <a:xfrm>
            <a:off x="508000" y="4554855"/>
            <a:ext cx="6604000" cy="8134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· 原特征集下 6 个组合中 </a:t>
            </a:r>
            <a:r>
              <a:rPr lang="en-US" sz="125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5 个</a:t>
            </a: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误差下降，天气确实携带有效信息；</a:t>
            </a:r>
            <a:endParaRPr lang="en-US" sz="1250" noProof="1"/>
          </a:p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· 但在</a:t>
            </a:r>
            <a:r>
              <a:rPr lang="en-US" sz="125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周同期特征已存在</a:t>
            </a: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的推荐配置下，边际增益收窄：6 个组合仅 </a:t>
            </a:r>
            <a:r>
              <a:rPr lang="en-US" sz="125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3 个</a:t>
            </a: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下降——</a:t>
            </a:r>
            <a:r>
              <a:rPr lang="en-US" sz="125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GBT 三区全降</a:t>
            </a: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，</a:t>
            </a:r>
            <a:r>
              <a:rPr lang="en-US" sz="125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LR 在区域 2/3 反而上升</a:t>
            </a: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；</a:t>
            </a:r>
            <a:endParaRPr lang="en-US" sz="1250" noProof="1"/>
          </a:p>
          <a:p>
            <a:pPr>
              <a:lnSpc>
                <a:spcPct val="135000"/>
              </a:lnSpc>
            </a:pPr>
            <a:endParaRPr lang="en-US" sz="1250" noProof="1"/>
          </a:p>
        </p:txBody>
      </p:sp>
      <p:sp>
        <p:nvSpPr>
          <p:cNvPr id="13" name="foot-line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14" name="foot"/>
          <p:cNvSpPr txBox="1"/>
          <p:nvPr/>
        </p:nvSpPr>
        <p:spPr>
          <a:xfrm>
            <a:off x="508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消融明细见 outputs/metrics/ablation_summary.csv；两组实验均统一 scikit-learn 1.6.1 复现</a:t>
            </a:r>
            <a:endParaRPr lang="en-US" sz="1000" noProof="1"/>
          </a:p>
        </p:txBody>
      </p:sp>
      <p:sp>
        <p:nvSpPr>
          <p:cNvPr id="15" name="page-num"/>
          <p:cNvSpPr txBox="1"/>
          <p:nvPr/>
        </p:nvSpPr>
        <p:spPr>
          <a:xfrm>
            <a:off x="11176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7 / 10</a:t>
            </a:r>
            <a:endParaRPr lang="en-US" sz="1000" noProof="1"/>
          </a:p>
        </p:txBody>
      </p:sp>
      <p:sp>
        <p:nvSpPr>
          <p:cNvPr id="16" name="deploy-card"/>
          <p:cNvSpPr/>
          <p:nvPr/>
        </p:nvSpPr>
        <p:spPr>
          <a:xfrm>
            <a:off x="7493000" y="4315460"/>
            <a:ext cx="4191000" cy="1879600"/>
          </a:xfrm>
          <a:prstGeom prst="rect">
            <a:avLst/>
          </a:prstGeom>
          <a:solidFill>
            <a:srgbClr val="F7F3EE"/>
          </a:solidFill>
          <a:ln w="9525">
            <a:solidFill>
              <a:srgbClr val="E3D9CE"/>
            </a:solidFill>
          </a:ln>
        </p:spPr>
      </p:sp>
      <p:sp>
        <p:nvSpPr>
          <p:cNvPr id="17" name="deploy-label"/>
          <p:cNvSpPr txBox="1"/>
          <p:nvPr/>
        </p:nvSpPr>
        <p:spPr>
          <a:xfrm>
            <a:off x="7747000" y="4467860"/>
            <a:ext cx="368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16424B"/>
                </a:solidFill>
                <a:latin typeface="MiSans" charset="-122"/>
                <a:ea typeface="MiSans" charset="-122"/>
              </a:rPr>
              <a:t>对部署的含义</a:t>
            </a:r>
            <a:endParaRPr lang="en-US" sz="1350" noProof="1"/>
          </a:p>
        </p:txBody>
      </p:sp>
      <p:sp>
        <p:nvSpPr>
          <p:cNvPr id="18" name="deploy-notes"/>
          <p:cNvSpPr txBox="1"/>
          <p:nvPr/>
        </p:nvSpPr>
        <p:spPr>
          <a:xfrm>
            <a:off x="7747000" y="4798060"/>
            <a:ext cx="37084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· </a:t>
            </a:r>
            <a:r>
              <a:rPr lang="en-US" sz="11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天气增益要打折：</a:t>
            </a:r>
            <a:r>
              <a:rPr lang="en-US" sz="11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实验用同步观测，部署须改用天气预报，预报误差会</a:t>
            </a:r>
            <a:r>
              <a:rPr lang="en-US" sz="1100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进一步压缩这部分收益</a:t>
            </a:r>
            <a:r>
              <a:rPr lang="en-US" sz="11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；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· </a:t>
            </a:r>
            <a:r>
              <a:rPr lang="en-US" sz="11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天气特征应分区引入：</a:t>
            </a:r>
            <a:r>
              <a:rPr lang="en-US" sz="11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LR 在区域 2/3 加天气反而变差（</a:t>
            </a:r>
            <a:r>
              <a:rPr lang="en-US" sz="11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+5.1% / +1.0%</a:t>
            </a:r>
            <a:r>
              <a:rPr lang="en-US" sz="11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），按区域评估后再决定是否上线；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· </a:t>
            </a:r>
            <a:r>
              <a:rPr lang="en-US" sz="11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配置选择看模型：</a:t>
            </a:r>
            <a:r>
              <a:rPr lang="en-US" sz="11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周同期特征存在时，GBT 三区仍全降（</a:t>
            </a:r>
            <a:r>
              <a:rPr lang="en-US" sz="11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−17.9% ~ −0.4%</a:t>
            </a:r>
            <a:r>
              <a:rPr lang="en-US" sz="11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），LR 仅在区域 1 受益。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eploy-card"/>
          <p:cNvSpPr/>
          <p:nvPr/>
        </p:nvSpPr>
        <p:spPr>
          <a:xfrm>
            <a:off x="7498715" y="3417570"/>
            <a:ext cx="3559810" cy="1254125"/>
          </a:xfrm>
          <a:prstGeom prst="rect">
            <a:avLst/>
          </a:prstGeom>
          <a:solidFill>
            <a:srgbClr val="F7F3EE"/>
          </a:solidFill>
          <a:ln w="9525">
            <a:solidFill>
              <a:srgbClr val="E3D9CE"/>
            </a:solidFill>
          </a:ln>
        </p:spPr>
      </p:sp>
      <p:sp>
        <p:nvSpPr>
          <p:cNvPr id="2" name="hdr-bar"/>
          <p:cNvSpPr/>
          <p:nvPr/>
        </p:nvSpPr>
        <p:spPr>
          <a:xfrm>
            <a:off x="508000" y="431800"/>
            <a:ext cx="76200" cy="3302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3" name="hdr-title"/>
          <p:cNvSpPr txBox="1"/>
          <p:nvPr/>
        </p:nvSpPr>
        <p:spPr>
          <a:xfrm>
            <a:off x="711200" y="406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预测结果与高负荷误差分析</a:t>
            </a:r>
            <a:endParaRPr lang="en-US" sz="2600" noProof="1"/>
          </a:p>
        </p:txBody>
      </p:sp>
      <p:sp>
        <p:nvSpPr>
          <p:cNvPr id="4" name="hdr-tag"/>
          <p:cNvSpPr txBox="1"/>
          <p:nvPr/>
        </p:nvSpPr>
        <p:spPr>
          <a:xfrm>
            <a:off x="9906000" y="482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07 · 结果与误差</a:t>
            </a:r>
            <a:endParaRPr lang="en-US" sz="1100" noProof="1"/>
          </a:p>
        </p:txBody>
      </p:sp>
      <p:sp>
        <p:nvSpPr>
          <p:cNvPr id="5" name="hdr-line"/>
          <p:cNvSpPr/>
          <p:nvPr/>
        </p:nvSpPr>
        <p:spPr>
          <a:xfrm>
            <a:off x="508000" y="8890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pic>
        <p:nvPicPr>
          <p:cNvPr id="6" name="fig7-img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-21" r="-21"/>
          <a:stretch>
            <a:fillRect/>
          </a:stretch>
        </p:blipFill>
        <p:spPr>
          <a:xfrm>
            <a:off x="433705" y="1181100"/>
            <a:ext cx="6646545" cy="3977640"/>
          </a:xfrm>
          <a:prstGeom prst="rect">
            <a:avLst/>
          </a:prstGeom>
          <a:ln>
            <a:noFill/>
          </a:ln>
        </p:spPr>
      </p:pic>
      <p:sp>
        <p:nvSpPr>
          <p:cNvPr id="7" name="fig7-cap"/>
          <p:cNvSpPr txBox="1"/>
          <p:nvPr/>
        </p:nvSpPr>
        <p:spPr>
          <a:xfrm>
            <a:off x="719455" y="526161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图 5　测试集实际负荷与预测负荷对比（改进后模型；三行为基线 / LR / GBT，三列为三个区域）</a:t>
            </a:r>
            <a:endParaRPr lang="en-US" sz="1000" noProof="1"/>
          </a:p>
        </p:txBody>
      </p:sp>
      <p:sp>
        <p:nvSpPr>
          <p:cNvPr id="8" name="peak-label"/>
          <p:cNvSpPr txBox="1"/>
          <p:nvPr/>
        </p:nvSpPr>
        <p:spPr>
          <a:xfrm>
            <a:off x="7283450" y="1189990"/>
            <a:ext cx="3990340" cy="3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高负荷样本（≥ 训练期 Q90）的误差</a:t>
            </a:r>
            <a:endParaRPr lang="en-US" sz="1400" b="1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9" name="peak-nums"/>
          <p:cNvSpPr txBox="1"/>
          <p:nvPr/>
        </p:nvSpPr>
        <p:spPr>
          <a:xfrm>
            <a:off x="7290435" y="1536065"/>
            <a:ext cx="3975100" cy="1772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区域 2 高峰时段 GBT RMSE </a:t>
            </a:r>
            <a:r>
              <a:rPr lang="en-US" sz="14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1736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，</a:t>
            </a: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为普通时段（826）的 </a:t>
            </a:r>
            <a:r>
              <a:rPr lang="en-US" sz="14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2.1 倍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；</a:t>
            </a:r>
            <a:endParaRPr lang="en-US" sz="1400" noProof="1"/>
          </a:p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bias 由 −100 转为 </a:t>
            </a:r>
            <a:r>
              <a:rPr lang="en-US" sz="14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−799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；</a:t>
            </a: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  <a:p>
            <a:pPr>
              <a:lnSpc>
                <a:spcPct val="150000"/>
              </a:lnSpc>
            </a:pP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 高峰时段系统性低估峰值，对调度最不安全 </a:t>
            </a: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0" name="peak-limit"/>
          <p:cNvSpPr txBox="1"/>
          <p:nvPr/>
        </p:nvSpPr>
        <p:spPr>
          <a:xfrm>
            <a:off x="7386320" y="4725670"/>
            <a:ext cx="3762375" cy="1308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限制：区域 1 测试期高峰样本仅 </a:t>
            </a:r>
            <a:r>
              <a:rPr lang="en-US" sz="1400" b="1" noProof="1">
                <a:solidFill>
                  <a:srgbClr val="6E767C"/>
                </a:solidFill>
                <a:latin typeface="MiSans" charset="-122"/>
                <a:ea typeface="MiSans" charset="-122"/>
              </a:rPr>
              <a:t>9 条</a:t>
            </a:r>
            <a:r>
              <a:rPr lang="en-US" sz="14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、区域 3 为 </a:t>
            </a:r>
            <a:r>
              <a:rPr lang="en-US" sz="1400" b="1" noProof="1">
                <a:solidFill>
                  <a:srgbClr val="6E767C"/>
                </a:solidFill>
                <a:latin typeface="MiSans" charset="-122"/>
                <a:ea typeface="MiSans" charset="-122"/>
              </a:rPr>
              <a:t>0 条</a:t>
            </a:r>
            <a:r>
              <a:rPr lang="en-US" sz="14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（测试期负荷整体下移，极少超过训练期 Q90），这两区的高峰表现无法从本次数据确认。</a:t>
            </a:r>
            <a:endParaRPr lang="en-US" sz="1400" noProof="1">
              <a:solidFill>
                <a:srgbClr val="6E767C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5" name="foot-line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16" name="foot"/>
          <p:cNvSpPr txBox="1"/>
          <p:nvPr/>
        </p:nvSpPr>
        <p:spPr>
          <a:xfrm>
            <a:off x="508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误差明细见 outputs/metrics/error_peak_vs_normal_tw.csv、error_overall_tw.csv；分析记录见 docs/error_analysis_findings.md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1176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8 / 10</a:t>
            </a:r>
            <a:endParaRPr lang="en-US" sz="1000" noProof="1"/>
          </a:p>
        </p:txBody>
      </p:sp>
      <p:sp>
        <p:nvSpPr>
          <p:cNvPr id="18" name="read-note"/>
          <p:cNvSpPr txBox="1"/>
          <p:nvPr/>
        </p:nvSpPr>
        <p:spPr>
          <a:xfrm>
            <a:off x="845185" y="5567680"/>
            <a:ext cx="6483985" cy="48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三行依次为基线 / LR / GBT，三列为三个区域；横轴为测试期 53 天。</a:t>
            </a:r>
            <a:endParaRPr lang="en-US" sz="1000" noProof="1">
              <a:solidFill>
                <a:srgbClr val="6E767C"/>
              </a:solidFill>
              <a:latin typeface="MiSans" charset="-122"/>
              <a:ea typeface="MiSans" charset="-122"/>
            </a:endParaRPr>
          </a:p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曲线贴合表示预测准确，系统性偏离方向对应 bias。</a:t>
            </a:r>
            <a:endParaRPr lang="en-US" sz="1000" noProof="1"/>
          </a:p>
        </p:txBody>
      </p:sp>
      <p:sp>
        <p:nvSpPr>
          <p:cNvPr id="19" name="overall-line"/>
          <p:cNvSpPr txBox="1"/>
          <p:nvPr/>
        </p:nvSpPr>
        <p:spPr>
          <a:xfrm>
            <a:off x="7643495" y="3506470"/>
            <a:ext cx="3733165" cy="10483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整体测试集（三区合并）：</a:t>
            </a: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MAE　 </a:t>
            </a:r>
            <a:r>
              <a:rPr lang="en-US" sz="14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LR 514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 ｜ GBT 931  ｜ 基线 1051　</a:t>
            </a: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RMSE  </a:t>
            </a:r>
            <a:r>
              <a:rPr lang="en-US" sz="14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LR 767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 ｜ GBT 1259 ｜ 基线 1644</a:t>
            </a: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LR 全面领先</a:t>
            </a:r>
            <a:endParaRPr lang="en-US" sz="1400" noProof="1">
              <a:solidFill>
                <a:srgbClr val="FFFFFF"/>
              </a:solidFill>
              <a:highlight>
                <a:srgbClr val="C0562F"/>
              </a:highlight>
              <a:latin typeface="MiSans" charset="-122"/>
              <a:ea typeface="MiSans" charset="-122"/>
            </a:endParaRPr>
          </a:p>
        </p:txBody>
      </p:sp>
      <p:sp>
        <p:nvSpPr>
          <p:cNvPr id="12" name="tl-gap-head"/>
          <p:cNvSpPr/>
          <p:nvPr/>
        </p:nvSpPr>
        <p:spPr>
          <a:xfrm rot="10800000">
            <a:off x="9147810" y="2821305"/>
            <a:ext cx="127000" cy="127000"/>
          </a:xfrm>
          <a:prstGeom prst="triangle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13" name="tl-gap-arrow"/>
          <p:cNvSpPr/>
          <p:nvPr/>
        </p:nvSpPr>
        <p:spPr>
          <a:xfrm rot="5400000">
            <a:off x="9046845" y="2632710"/>
            <a:ext cx="337185" cy="168910"/>
          </a:xfrm>
          <a:custGeom>
            <a:avLst/>
            <a:gdLst/>
            <a:ahLst/>
            <a:cxnLst/>
            <a:rect l="l" t="t" r="r" b="b"/>
            <a:pathLst>
              <a:path w="66" h="14">
                <a:moveTo>
                  <a:pt x="0" y="7"/>
                </a:moveTo>
                <a:lnTo>
                  <a:pt x="66" y="7"/>
                </a:lnTo>
              </a:path>
            </a:pathLst>
          </a:custGeom>
          <a:noFill/>
          <a:ln w="19050" cap="rnd">
            <a:solidFill>
              <a:srgbClr val="C0562F"/>
            </a:solidFill>
            <a:round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508000" y="431800"/>
            <a:ext cx="76200" cy="3302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3" name="hdr-title"/>
          <p:cNvSpPr txBox="1"/>
          <p:nvPr/>
        </p:nvSpPr>
        <p:spPr>
          <a:xfrm>
            <a:off x="711200" y="406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系统性偏差与</a:t>
            </a:r>
            <a:r>
              <a:rPr lang="zh-CN" alt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分析</a:t>
            </a:r>
            <a:r>
              <a:rPr 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局限</a:t>
            </a:r>
            <a:endParaRPr lang="en-US" sz="2600" noProof="1"/>
          </a:p>
        </p:txBody>
      </p:sp>
      <p:sp>
        <p:nvSpPr>
          <p:cNvPr id="4" name="hdr-tag"/>
          <p:cNvSpPr txBox="1"/>
          <p:nvPr/>
        </p:nvSpPr>
        <p:spPr>
          <a:xfrm>
            <a:off x="9906000" y="482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08 · 偏差与局限</a:t>
            </a:r>
            <a:endParaRPr lang="en-US" sz="1100" noProof="1"/>
          </a:p>
        </p:txBody>
      </p:sp>
      <p:sp>
        <p:nvSpPr>
          <p:cNvPr id="5" name="hdr-line"/>
          <p:cNvSpPr/>
          <p:nvPr/>
        </p:nvSpPr>
        <p:spPr>
          <a:xfrm>
            <a:off x="508000" y="8890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11" name="limit-rule"/>
          <p:cNvSpPr/>
          <p:nvPr/>
        </p:nvSpPr>
        <p:spPr>
          <a:xfrm>
            <a:off x="508000" y="5232400"/>
            <a:ext cx="11176000" cy="12700"/>
          </a:xfrm>
          <a:prstGeom prst="rect">
            <a:avLst/>
          </a:prstGeom>
          <a:solidFill>
            <a:srgbClr val="16424B"/>
          </a:solidFill>
          <a:ln>
            <a:noFill/>
          </a:ln>
        </p:spPr>
      </p:sp>
      <p:sp>
        <p:nvSpPr>
          <p:cNvPr id="12" name="limit-label"/>
          <p:cNvSpPr txBox="1"/>
          <p:nvPr/>
        </p:nvSpPr>
        <p:spPr>
          <a:xfrm>
            <a:off x="508000" y="5334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14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分析</a:t>
            </a:r>
            <a:r>
              <a:rPr lang="en-US" sz="14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局限（一年、单城市数据）</a:t>
            </a:r>
            <a:endParaRPr lang="en-US" sz="1400" b="1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3" name="limit-list"/>
          <p:cNvSpPr txBox="1"/>
          <p:nvPr/>
        </p:nvSpPr>
        <p:spPr>
          <a:xfrm>
            <a:off x="539115" y="5714365"/>
            <a:ext cx="11176000" cy="549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85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· 负荷下移是季节性还是趋势性，</a:t>
            </a:r>
            <a:r>
              <a:rPr lang="en-US" sz="1400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单年度数据无法分离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；                     · 天气输入为同步观测，部署时须改用带误差的天气预报；</a:t>
            </a: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  <a:p>
            <a:pPr>
              <a:lnSpc>
                <a:spcPct val="85000"/>
              </a:lnSpc>
            </a:pPr>
            <a:endParaRPr lang="en-US" sz="1400" noProof="1"/>
          </a:p>
          <a:p>
            <a:pPr>
              <a:lnSpc>
                <a:spcPct val="85000"/>
              </a:lnSpc>
            </a:pP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· 节假日、检修等</a:t>
            </a:r>
            <a:r>
              <a:rPr lang="en-US" sz="1400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日程突变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下模型与基线同时失效；                            · 结论不外推至其他城市 / 年份，不使用"显著提升"类统计措辞。</a:t>
            </a:r>
            <a:endParaRPr lang="en-US" sz="1400" noProof="1"/>
          </a:p>
        </p:txBody>
      </p:sp>
      <p:sp>
        <p:nvSpPr>
          <p:cNvPr id="15" name="foot-line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16" name="foot"/>
          <p:cNvSpPr txBox="1"/>
          <p:nvPr/>
        </p:nvSpPr>
        <p:spPr>
          <a:xfrm>
            <a:off x="508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误差明细见 outputs/metrics/error_peak_vs_normal_tw.csv、error_overall_tw.csv；分析记录见 docs/error_analysis_findings.md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1176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9 / 10</a:t>
            </a:r>
            <a:endParaRPr lang="en-US" sz="1000" noProof="1"/>
          </a:p>
        </p:txBody>
      </p:sp>
      <p:sp>
        <p:nvSpPr>
          <p:cNvPr id="14" name="err-summary"/>
          <p:cNvSpPr txBox="1"/>
          <p:nvPr/>
        </p:nvSpPr>
        <p:spPr>
          <a:xfrm>
            <a:off x="508000" y="3708400"/>
            <a:ext cx="5842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系统性偏差与漂移方向一致：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测试期区域 1/3 负荷均值下移（如区域 1 日均 </a:t>
            </a:r>
            <a:r>
              <a:rPr lang="en-US" sz="14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33,065 → 29,056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），GBT 在两区持续</a:t>
            </a:r>
            <a:r>
              <a:rPr lang="en-US" sz="14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高估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（bias </a:t>
            </a:r>
            <a:r>
              <a:rPr lang="en-US" sz="14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+522 / +549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），区域 2 方向相反转为低估（</a:t>
            </a:r>
            <a:r>
              <a:rPr lang="en-US" sz="14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−271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）；历史同期基线锚定上周同期值，bias 绝对值最小（均不超 110）。</a:t>
            </a:r>
            <a:endParaRPr 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</p:txBody>
      </p:sp>
      <p:pic>
        <p:nvPicPr>
          <p:cNvPr id="18" name="fig6-img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8000" y="1117600"/>
            <a:ext cx="5842000" cy="2197100"/>
          </a:xfrm>
          <a:prstGeom prst="rect">
            <a:avLst/>
          </a:prstGeom>
          <a:ln>
            <a:noFill/>
          </a:ln>
        </p:spPr>
      </p:pic>
      <p:pic>
        <p:nvPicPr>
          <p:cNvPr id="19" name="fig7b-img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31000" y="1117600"/>
            <a:ext cx="4953000" cy="3606800"/>
          </a:xfrm>
          <a:prstGeom prst="rect">
            <a:avLst/>
          </a:prstGeom>
          <a:ln>
            <a:noFill/>
          </a:ln>
        </p:spPr>
      </p:pic>
      <p:sp>
        <p:nvSpPr>
          <p:cNvPr id="20" name="fig6-cap"/>
          <p:cNvSpPr txBox="1"/>
          <p:nvPr/>
        </p:nvSpPr>
        <p:spPr>
          <a:xfrm>
            <a:off x="508000" y="33528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图 6　三区日均负荷全年走势：区域 3 自 9 月起持续下移</a:t>
            </a:r>
            <a:endParaRPr lang="en-US" sz="1000" noProof="1"/>
          </a:p>
        </p:txBody>
      </p:sp>
      <p:sp>
        <p:nvSpPr>
          <p:cNvPr id="21" name="fig7b-cap"/>
          <p:cNvSpPr txBox="1"/>
          <p:nvPr/>
        </p:nvSpPr>
        <p:spPr>
          <a:xfrm>
            <a:off x="6731000" y="4775200"/>
            <a:ext cx="4953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图 7　GBT 日平均残差：区域 1 全程为正、区域 3 自 11 月下旬起转正，均为持续高估且幅度随时间放大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508000" y="431800"/>
            <a:ext cx="76200" cy="330200"/>
          </a:xfrm>
          <a:prstGeom prst="rect">
            <a:avLst/>
          </a:prstGeom>
          <a:solidFill>
            <a:srgbClr val="C0562F"/>
          </a:solidFill>
          <a:ln>
            <a:noFill/>
          </a:ln>
        </p:spPr>
      </p:sp>
      <p:sp>
        <p:nvSpPr>
          <p:cNvPr id="3" name="hdr-title"/>
          <p:cNvSpPr txBox="1"/>
          <p:nvPr/>
        </p:nvSpPr>
        <p:spPr>
          <a:xfrm>
            <a:off x="711200" y="406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研究结论与团队分工</a:t>
            </a:r>
            <a:endParaRPr lang="en-US" sz="2600" noProof="1"/>
          </a:p>
        </p:txBody>
      </p:sp>
      <p:sp>
        <p:nvSpPr>
          <p:cNvPr id="4" name="hdr-tag"/>
          <p:cNvSpPr txBox="1"/>
          <p:nvPr/>
        </p:nvSpPr>
        <p:spPr>
          <a:xfrm>
            <a:off x="9906000" y="482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09 · 结论</a:t>
            </a:r>
            <a:endParaRPr lang="en-US" sz="1100" noProof="1"/>
          </a:p>
        </p:txBody>
      </p:sp>
      <p:sp>
        <p:nvSpPr>
          <p:cNvPr id="5" name="hdr-line"/>
          <p:cNvSpPr/>
          <p:nvPr/>
        </p:nvSpPr>
        <p:spPr>
          <a:xfrm>
            <a:off x="508000" y="8890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6" name="concl-1-num"/>
          <p:cNvSpPr txBox="1"/>
          <p:nvPr/>
        </p:nvSpPr>
        <p:spPr>
          <a:xfrm>
            <a:off x="508000" y="124841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①</a:t>
            </a:r>
            <a:endParaRPr lang="en-US" sz="2200" noProof="1"/>
          </a:p>
        </p:txBody>
      </p:sp>
      <p:sp>
        <p:nvSpPr>
          <p:cNvPr id="7" name="concl-1"/>
          <p:cNvSpPr txBox="1"/>
          <p:nvPr/>
        </p:nvSpPr>
        <p:spPr>
          <a:xfrm>
            <a:off x="1041400" y="1248410"/>
            <a:ext cx="5080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50" b="1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 负荷周期性稳定，历史同期规律可靠 </a:t>
            </a:r>
            <a:endParaRPr lang="en-US" sz="1250" noProof="1"/>
          </a:p>
          <a:p>
            <a:pPr>
              <a:lnSpc>
                <a:spcPct val="142000"/>
              </a:lnSpc>
            </a:pP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三区 </a:t>
            </a:r>
            <a:r>
              <a:rPr lang="en-US" sz="125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97%</a:t>
            </a: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 以上的日子峰值落在 18–21 时，谷值集中在 4–7 时；这一规律是全部建模结论的基础。</a:t>
            </a:r>
            <a:endParaRPr lang="en-US" sz="1250" noProof="1"/>
          </a:p>
        </p:txBody>
      </p:sp>
      <p:sp>
        <p:nvSpPr>
          <p:cNvPr id="8" name="concl-2-num"/>
          <p:cNvSpPr txBox="1"/>
          <p:nvPr/>
        </p:nvSpPr>
        <p:spPr>
          <a:xfrm>
            <a:off x="508000" y="259461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②</a:t>
            </a:r>
            <a:endParaRPr lang="en-US" sz="2200" noProof="1"/>
          </a:p>
        </p:txBody>
      </p:sp>
      <p:sp>
        <p:nvSpPr>
          <p:cNvPr id="9" name="concl-2"/>
          <p:cNvSpPr txBox="1"/>
          <p:nvPr/>
        </p:nvSpPr>
        <p:spPr>
          <a:xfrm>
            <a:off x="1041400" y="2594610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50" b="1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 目标对齐的周同期特征带来决定性改进 </a:t>
            </a:r>
            <a:endParaRPr lang="en-US" sz="1250" noProof="1"/>
          </a:p>
          <a:p>
            <a:pPr>
              <a:lnSpc>
                <a:spcPct val="142000"/>
              </a:lnSpc>
            </a:pP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引入目标对齐周同期特征后，LR 合并 MAE/RMSE 降至 514.09 / 767.16（相对基线 −51.1% / −53.3%），学习模型全面反超；特征与基线信息同源，比较才公平。</a:t>
            </a:r>
            <a:endParaRPr lang="en-US" sz="1250" noProof="1"/>
          </a:p>
        </p:txBody>
      </p:sp>
      <p:sp>
        <p:nvSpPr>
          <p:cNvPr id="10" name="concl-3-num"/>
          <p:cNvSpPr txBox="1"/>
          <p:nvPr/>
        </p:nvSpPr>
        <p:spPr>
          <a:xfrm>
            <a:off x="508000" y="399161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③</a:t>
            </a:r>
            <a:endParaRPr lang="en-US" sz="2200" noProof="1"/>
          </a:p>
        </p:txBody>
      </p:sp>
      <p:sp>
        <p:nvSpPr>
          <p:cNvPr id="11" name="concl-3"/>
          <p:cNvSpPr txBox="1"/>
          <p:nvPr/>
        </p:nvSpPr>
        <p:spPr>
          <a:xfrm>
            <a:off x="1041400" y="3997325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50" b="1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 天气增益因模型与区域而异；高负荷误差放大且转为低估 </a:t>
            </a:r>
            <a:endParaRPr lang="en-US" sz="1250" noProof="1"/>
          </a:p>
          <a:p>
            <a:pPr>
              <a:lnSpc>
                <a:spcPct val="142000"/>
              </a:lnSpc>
            </a:pP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区域 2 高峰 RMSE 为普通时段 </a:t>
            </a:r>
            <a:r>
              <a:rPr lang="en-US" sz="125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2.1 倍</a:t>
            </a: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、bias </a:t>
            </a:r>
            <a:r>
              <a:rPr lang="en-US" sz="125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−793</a:t>
            </a:r>
            <a:r>
              <a:rPr lang="en-US" sz="125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；调度裕度应向高估方向预留。</a:t>
            </a:r>
            <a:endParaRPr lang="en-US" sz="1250" noProof="1"/>
          </a:p>
        </p:txBody>
      </p:sp>
      <p:sp>
        <p:nvSpPr>
          <p:cNvPr id="12" name="concl-4"/>
          <p:cNvSpPr txBox="1"/>
          <p:nvPr/>
        </p:nvSpPr>
        <p:spPr>
          <a:xfrm>
            <a:off x="685165" y="5019675"/>
            <a:ext cx="561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400" b="1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应用建议与后续方向：</a:t>
            </a:r>
            <a:r>
              <a:rPr lang="en-US" sz="14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小时级调度优先采用带周同期特征的线性回归；基线作兜底；区域 3 单独监控并留更大备用容量；后续接入日程特征与真实天气预报、扩展跨年度数据。</a:t>
            </a:r>
            <a:endParaRPr lang="en-US" sz="1400" noProof="1">
              <a:solidFill>
                <a:srgbClr val="6E767C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3" name="side-rule"/>
          <p:cNvSpPr/>
          <p:nvPr/>
        </p:nvSpPr>
        <p:spPr>
          <a:xfrm>
            <a:off x="6451600" y="1168400"/>
            <a:ext cx="12700" cy="50292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14" name="team-label"/>
          <p:cNvSpPr txBox="1"/>
          <p:nvPr/>
        </p:nvSpPr>
        <p:spPr>
          <a:xfrm>
            <a:off x="6697345" y="2326005"/>
            <a:ext cx="4927600" cy="4705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algn="l">
              <a:lnSpc>
                <a:spcPct val="142000"/>
              </a:lnSpc>
              <a:buClrTx/>
              <a:buSzTx/>
              <a:buFontTx/>
            </a:pPr>
            <a:r>
              <a:rPr lang="en-US" sz="2000" b="1" noProof="1">
                <a:solidFill>
                  <a:srgbClr val="FFFFFF"/>
                </a:solidFill>
                <a:highlight>
                  <a:srgbClr val="C0562F"/>
                </a:highlight>
                <a:latin typeface="MiSans" charset="-122"/>
                <a:ea typeface="MiSans" charset="-122"/>
              </a:rPr>
              <a:t>团队分工</a:t>
            </a:r>
            <a:endParaRPr lang="en-US" sz="2000" b="1" noProof="1">
              <a:solidFill>
                <a:srgbClr val="FFFFFF"/>
              </a:solidFill>
              <a:highlight>
                <a:srgbClr val="C0562F"/>
              </a:highlight>
              <a:latin typeface="MiSans" charset="-122"/>
              <a:ea typeface="MiSans" charset="-122"/>
            </a:endParaRPr>
          </a:p>
        </p:txBody>
      </p:sp>
      <p:sp>
        <p:nvSpPr>
          <p:cNvPr id="15" name="team-list"/>
          <p:cNvSpPr txBox="1"/>
          <p:nvPr/>
        </p:nvSpPr>
        <p:spPr>
          <a:xfrm>
            <a:off x="6697345" y="2938780"/>
            <a:ext cx="49276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郑宜桥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　A 模块：数据质量审计、清洗、时序规律与天气相关性分析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况子昱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　B 模块：切分与特征工程、模型训练、时间序列验证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徐启翔</a:t>
            </a:r>
            <a:r>
              <a:rPr 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　C 模块：天气消融、高负荷误差分析、结论整合与报告撰写</a:t>
            </a:r>
            <a:r>
              <a:rPr lang="zh-CN" alt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、完成</a:t>
            </a:r>
            <a:r>
              <a:rPr lang="en-US" altLang="zh-CN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PPT</a:t>
            </a:r>
            <a:r>
              <a:rPr lang="zh-CN" alt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和</a:t>
            </a:r>
            <a:r>
              <a:rPr lang="zh-CN" altLang="en-US" sz="1400" noProof="1">
                <a:solidFill>
                  <a:srgbClr val="232A30"/>
                </a:solidFill>
                <a:latin typeface="MiSans" charset="-122"/>
                <a:ea typeface="MiSans" charset="-122"/>
              </a:rPr>
              <a:t>汇报</a:t>
            </a:r>
            <a:endParaRPr lang="zh-CN" altLang="en-US" sz="1400" noProof="1">
              <a:solidFill>
                <a:srgbClr val="232A30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7" name="result-list"/>
          <p:cNvSpPr txBox="1"/>
          <p:nvPr/>
        </p:nvSpPr>
        <p:spPr>
          <a:xfrm>
            <a:off x="6697345" y="3602990"/>
            <a:ext cx="4927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endParaRPr lang="en-US" sz="1400" noProof="1"/>
          </a:p>
        </p:txBody>
      </p:sp>
      <p:sp>
        <p:nvSpPr>
          <p:cNvPr id="19" name="repo"/>
          <p:cNvSpPr txBox="1"/>
          <p:nvPr/>
        </p:nvSpPr>
        <p:spPr>
          <a:xfrm>
            <a:off x="6697345" y="5177790"/>
            <a:ext cx="492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zh-CN" altLang="en-US" sz="1400" b="1" noProof="1">
                <a:solidFill>
                  <a:srgbClr val="16424B"/>
                </a:solidFill>
                <a:latin typeface="MiSans" charset="-122"/>
                <a:ea typeface="MiSans" charset="-122"/>
              </a:rPr>
              <a:t>具体个人工作记录在</a:t>
            </a:r>
            <a:r>
              <a:rPr lang="en-US" sz="1400" b="1" noProof="1">
                <a:solidFill>
                  <a:srgbClr val="16424B"/>
                </a:solidFill>
                <a:latin typeface="MiSans" charset="-122"/>
                <a:ea typeface="MiSans" charset="-122"/>
              </a:rPr>
              <a:t>GitHub 仓库</a:t>
            </a:r>
            <a:r>
              <a:rPr lang="zh-CN" altLang="en-US" sz="1400" b="1" noProof="1">
                <a:solidFill>
                  <a:srgbClr val="16424B"/>
                </a:solidFill>
                <a:latin typeface="MiSans" charset="-122"/>
                <a:ea typeface="MiSans" charset="-122"/>
              </a:rPr>
              <a:t>查看</a:t>
            </a:r>
            <a:endParaRPr lang="en-US" sz="1400" noProof="1"/>
          </a:p>
          <a:p>
            <a:pPr>
              <a:lnSpc>
                <a:spcPct val="140000"/>
              </a:lnSpc>
            </a:pPr>
            <a:r>
              <a:rPr lang="en-US" sz="1400" u="sng" noProof="1">
                <a:solidFill>
                  <a:srgbClr val="0563C1"/>
                </a:solidFill>
                <a:latin typeface="MiSans" charset="-122"/>
                <a:ea typeface="MiSans" charset="-122"/>
                <a:hlinkClick r:id="rId1"/>
              </a:rPr>
              <a:t>github.com/77xiang/python_data_processing</a:t>
            </a:r>
            <a:endParaRPr lang="en-US" sz="1400" u="sng" noProof="1">
              <a:solidFill>
                <a:srgbClr val="0563C1"/>
              </a:solidFill>
              <a:latin typeface="MiSans" charset="-122"/>
              <a:ea typeface="MiSans" charset="-122"/>
              <a:hlinkClick r:id="rId1"/>
            </a:endParaRPr>
          </a:p>
        </p:txBody>
      </p:sp>
      <p:sp>
        <p:nvSpPr>
          <p:cNvPr id="20" name="foot-line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8D4CB"/>
          </a:solidFill>
          <a:ln>
            <a:noFill/>
          </a:ln>
        </p:spPr>
      </p:sp>
      <p:sp>
        <p:nvSpPr>
          <p:cNvPr id="21" name="foot"/>
          <p:cNvSpPr txBox="1"/>
          <p:nvPr/>
        </p:nvSpPr>
        <p:spPr>
          <a:xfrm>
            <a:off x="508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 感谢聆听，欢迎提问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1176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10 / 10</a:t>
            </a:r>
            <a:endParaRPr lang="en-US" sz="1000" noProof="1"/>
          </a:p>
        </p:txBody>
      </p:sp>
      <p:sp>
        <p:nvSpPr>
          <p:cNvPr id="16" name="num-1"/>
          <p:cNvSpPr txBox="1"/>
          <p:nvPr/>
        </p:nvSpPr>
        <p:spPr>
          <a:xfrm>
            <a:off x="6697345" y="1322705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50+</a:t>
            </a:r>
            <a:endParaRPr lang="zh-CN" altLang="en-US" sz="30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3" name="num-1-label"/>
          <p:cNvSpPr txBox="1"/>
          <p:nvPr/>
        </p:nvSpPr>
        <p:spPr>
          <a:xfrm>
            <a:off x="6697345" y="184404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次commit</a:t>
            </a:r>
            <a:r>
              <a:rPr lang="zh-CN" alt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记录</a:t>
            </a:r>
            <a:endParaRPr lang="zh-CN" altLang="en-US" sz="1100" noProof="1">
              <a:solidFill>
                <a:srgbClr val="6E767C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4" name="num-2"/>
          <p:cNvSpPr txBox="1"/>
          <p:nvPr/>
        </p:nvSpPr>
        <p:spPr>
          <a:xfrm>
            <a:off x="8888095" y="131064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9</a:t>
            </a:r>
            <a:endParaRPr lang="en-US" sz="3000" noProof="1"/>
          </a:p>
        </p:txBody>
      </p:sp>
      <p:sp>
        <p:nvSpPr>
          <p:cNvPr id="25" name="num-2-label"/>
          <p:cNvSpPr txBox="1"/>
          <p:nvPr/>
        </p:nvSpPr>
        <p:spPr>
          <a:xfrm>
            <a:off x="8888095" y="184404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E767C"/>
                </a:solidFill>
                <a:latin typeface="MiSans" charset="-122"/>
                <a:ea typeface="MiSans" charset="-122"/>
              </a:rPr>
              <a:t>次Pull Request</a:t>
            </a:r>
            <a:endParaRPr lang="en-US" sz="1100" noProof="1">
              <a:solidFill>
                <a:srgbClr val="6E767C"/>
              </a:solidFill>
              <a:latin typeface="MiSans" charset="-122"/>
              <a:ea typeface="MiSans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5583</Words>
  <Application>WPS 演示</Application>
  <PresentationFormat/>
  <Paragraphs>426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MiSans</vt:lpstr>
      <vt:lpstr>Times New Roman</vt:lpstr>
      <vt:lpstr>Consolas</vt:lpstr>
      <vt:lpstr>Arial</vt:lpstr>
      <vt:lpstr>微软雅黑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课程汇报PPT</dc:title>
  <dc:creator/>
  <cp:lastModifiedBy>WangXY</cp:lastModifiedBy>
  <cp:revision>19</cp:revision>
  <dcterms:created xsi:type="dcterms:W3CDTF">2026-10-22T11:34:00Z</dcterms:created>
  <dcterms:modified xsi:type="dcterms:W3CDTF">2026-10-26T11:37:26Z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2052-12.1.0.29161</vt:lpwstr>
  </property>
  <property fmtid="{D5CDD505-2E9C-101B-9397-08002B2CF9AE}" pid="4" name="ICV">
    <vt:lpwstr>BCE78BEFC71E4CCC92D20A398C0BF157_12</vt:lpwstr>
  </property>
</Properties>
</file>