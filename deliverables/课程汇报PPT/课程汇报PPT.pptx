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gif" ContentType="image/gif"/>
  <Default Extension="svg" ContentType="image/svg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charts/chart5_1.xml" ContentType="application/vnd.openxmlformats-officedocument.drawingml.chart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 type="custom"/>
  <p:notesSz cx="12192000" cy="6858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ableStyles" Target="tableStyles.xml"/></Relationships>
</file>

<file path=ppt/charts/_rels/chart5_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_chart5_1.xlsx"/></Relationships>
</file>

<file path=ppt/charts/chart5_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</c:v>
                </c:pt>
              </c:strCache>
            </c:strRef>
          </c:tx>
          <c:spPr>
            <a:solidFill>
              <a:srgbClr val="8FB5AE"/>
            </a:solidFill>
          </c:spPr>
          <c:dLbls>
            <c:numFmt formatCode="#,##0" sourceLinked="0"/>
            <c:txPr>
              <a:bodyPr/>
              <a:lstStyle/>
              <a:p>
                <a:pPr>
                  <a:defRPr sz="1000" noProof="1" b="0" i="0" u="none" strike="noStrike">
                    <a:latin typeface="Arial"/>
                  </a:defRPr>
                </a:pPr>
                <a:endParaRPr lang="en-US" noProof="1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历史同期基线</c:v>
                </c:pt>
                <c:pt idx="1">
                  <c:v>线性回归 LR</c:v>
                </c:pt>
                <c:pt idx="2">
                  <c:v>梯度提升树 GBT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1050.68</c:v>
                </c:pt>
                <c:pt idx="1">
                  <c:v>1493.37</c:v>
                </c:pt>
                <c:pt idx="2">
                  <c:v>1554.91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RMSE</c:v>
                </c:pt>
              </c:strCache>
            </c:strRef>
          </c:tx>
          <c:spPr>
            <a:solidFill>
              <a:srgbClr val="16424B"/>
            </a:solidFill>
          </c:spPr>
          <c:dLbls>
            <c:numFmt formatCode="#,##0" sourceLinked="0"/>
            <c:txPr>
              <a:bodyPr/>
              <a:lstStyle/>
              <a:p>
                <a:pPr>
                  <a:defRPr sz="1000" noProof="1" b="0" i="0" u="none" strike="noStrike">
                    <a:latin typeface="Arial"/>
                  </a:defRPr>
                </a:pPr>
                <a:endParaRPr lang="en-US" noProof="1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历史同期基线</c:v>
                </c:pt>
                <c:pt idx="1">
                  <c:v>线性回归 LR</c:v>
                </c:pt>
                <c:pt idx="2">
                  <c:v>梯度提升树 GBT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1643.67</c:v>
                </c:pt>
                <c:pt idx="1">
                  <c:v>1957.37</c:v>
                </c:pt>
                <c:pt idx="2">
                  <c:v>2126.3</c:v>
                </c:pt>
              </c:numCache>
            </c:numRef>
          </c:val>
        </c:ser>
        <c:gapWidth val="56"/>
        <c:overlap val="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888888"/>
            </a:solidFill>
          </a:ln>
        </c:spPr>
        <c:txPr>
          <a:bodyPr/>
          <a:lstStyle/>
          <a:p>
            <a:pPr>
              <a:defRPr sz="1100" noProof="1" b="0" i="0" u="none" strike="noStrike">
                <a:latin typeface="Arial"/>
              </a:defRPr>
            </a:pPr>
            <a:endParaRPr lang="en-US" noProof="1"/>
          </a:p>
        </c:txPr>
        <c:crossAx val="2"/>
        <c:crosses val="autoZero"/>
        <c:auto val="1"/>
        <c:lblAlgn val="ctr"/>
        <c:noMultiLvlLbl val="1"/>
      </c:catAx>
      <c:valAx>
        <c:axId val="2"/>
        <c:scaling>
          <c:orientation val="minMax"/>
          <c:max val="2500"/>
          <c:min val="0"/>
        </c:scaling>
        <c:delete val="0"/>
        <c:axPos val="l"/>
        <c:majorGridlines>
          <c:spPr>
            <a:ln w="12700">
              <a:solidFill>
                <a:srgbClr val="E3DFD5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>
            <a:solidFill>
              <a:srgbClr val="888888"/>
            </a:solidFill>
          </a:ln>
        </c:spPr>
        <c:txPr>
          <a:bodyPr/>
          <a:lstStyle/>
          <a:p>
            <a:pPr>
              <a:defRPr sz="1000" noProof="1" b="0" i="0" u="none" strike="noStrike">
                <a:latin typeface="Arial"/>
              </a:defRPr>
            </a:pPr>
            <a:endParaRPr lang="en-US" noProof="1"/>
          </a:p>
        </c:txPr>
        <c:crossAx val="1"/>
        <c:crosses val="autoZero"/>
        <c:crossBetween val="between"/>
        <c:majorUnit val="500"/>
      </c:valAx>
      <c:spPr>
        <a:noFill/>
        <a:ln>
          <a:noFill/>
        </a:ln>
      </c:spPr>
    </c:plotArea>
    <c:legend>
      <c:legendPos val="t"/>
      <c:layout/>
      <c:overlay val="0"/>
    </c:legend>
    <c:plotVisOnly val="1"/>
    <c:dispBlanksAs val="gap"/>
  </c:chart>
  <c:spPr>
    <a:noFill/>
    <a:ln>
      <a:noFill/>
    </a:ln>
  </c:spPr>
  <c:externalData r:id="rId1">
    <c:autoUpdate val="0"/>
  </c:externalData>
</c:chartSpace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github.com/77xiang/python_data_processing" TargetMode="Externa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_1.png"/><Relationship Id="rId3" Type="http://schemas.openxmlformats.org/officeDocument/2006/relationships/image" Target="../media/image4_2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5_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_1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_1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github.com/77xiang/python_data_processing" TargetMode="External"/></Relationships>
</file>

<file path=ppt/slides/slide1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watch"/>
          <p:cNvSpPr/>
          <p:nvPr/>
        </p:nvSpPr>
        <p:spPr>
          <a:xfrm>
            <a:off x="0" y="0"/>
            <a:ext cx="4826000" cy="6858000"/>
          </a:xfrm>
          <a:prstGeom prst="rect">
            <a:avLst/>
          </a:prstGeom>
          <a:solidFill>
            <a:srgbClr val="16424B"/>
          </a:solidFill>
          <a:ln>
            <a:noFill/>
          </a:ln>
        </p:spPr>
      </p:sp>
      <p:sp>
        <p:nvSpPr>
          <p:cNvPr id="3" name="swatch-accent"/>
          <p:cNvSpPr/>
          <p:nvPr/>
        </p:nvSpPr>
        <p:spPr>
          <a:xfrm>
            <a:off x="4826000" y="0"/>
            <a:ext cx="127000" cy="6858000"/>
          </a:xfrm>
          <a:prstGeom prst="rect">
            <a:avLst/>
          </a:prstGeom>
          <a:solidFill>
            <a:srgbClr val="C0562F"/>
          </a:solidFill>
          <a:ln>
            <a:noFill/>
          </a:ln>
        </p:spPr>
      </p:sp>
      <p:sp>
        <p:nvSpPr>
          <p:cNvPr id="4" name="cover-tag"/>
          <p:cNvSpPr txBox="1"/>
          <p:nvPr/>
        </p:nvSpPr>
        <p:spPr>
          <a:xfrm>
            <a:off x="457200" y="7620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300" noProof="1" spc="200" kern="0">
                <a:solidFill>
                  <a:srgbClr val="BFD3D6"/>
                </a:solidFill>
                <a:latin typeface="MiSans"/>
                <a:ea typeface="MiSans"/>
              </a:rPr>
              <a:t>课程综合实践汇报 · 题目四</a:t>
            </a:r>
            <a:endParaRPr lang="en-US" sz="1300" noProof="1"/>
          </a:p>
        </p:txBody>
      </p:sp>
      <p:sp>
        <p:nvSpPr>
          <p:cNvPr id="5" name="cover-title"/>
          <p:cNvSpPr txBox="1"/>
          <p:nvPr/>
        </p:nvSpPr>
        <p:spPr>
          <a:xfrm>
            <a:off x="457200" y="1397000"/>
            <a:ext cx="4013200" cy="304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3200" noProof="1" b="1">
                <a:solidFill>
                  <a:srgbClr val="FFFFFF"/>
                </a:solidFill>
                <a:latin typeface="MiSans"/>
                <a:ea typeface="MiSans"/>
              </a:rPr>
              <a:t>基于</a:t>
            </a:r>
            <a:r>
              <a:rPr lang="en-US" sz="3200" noProof="1" b="1">
                <a:solidFill>
                  <a:srgbClr val="E8A58C"/>
                </a:solidFill>
                <a:latin typeface="MiSans"/>
                <a:ea typeface="MiSans"/>
              </a:rPr>
              <a:t>时间序列验证</a:t>
            </a:r>
            <a:r>
              <a:rPr lang="en-US" sz="3200" noProof="1" b="1">
                <a:solidFill>
                  <a:srgbClr val="FFFFFF"/>
                </a:solidFill>
                <a:latin typeface="MiSans"/>
                <a:ea typeface="MiSans"/>
              </a:rPr>
              <a:t>与</a:t>
            </a:r>
            <a:r>
              <a:rPr lang="en-US" sz="3200" noProof="1" b="1">
                <a:solidFill>
                  <a:srgbClr val="E8A58C"/>
                </a:solidFill>
                <a:latin typeface="MiSans"/>
                <a:ea typeface="MiSans"/>
              </a:rPr>
              <a:t>特征消融</a:t>
            </a:r>
            <a:r>
              <a:rPr lang="en-US" sz="3200" noProof="1" b="1">
                <a:solidFill>
                  <a:srgbClr val="FFFFFF"/>
                </a:solidFill>
                <a:latin typeface="MiSans"/>
                <a:ea typeface="MiSans"/>
              </a:rPr>
              <a:t>的城市短期电力负荷预测研究</a:t>
            </a:r>
            <a:endParaRPr lang="en-US" sz="3200" noProof="1"/>
          </a:p>
        </p:txBody>
      </p:sp>
      <p:sp>
        <p:nvSpPr>
          <p:cNvPr id="6" name="cover-line"/>
          <p:cNvSpPr/>
          <p:nvPr/>
        </p:nvSpPr>
        <p:spPr>
          <a:xfrm>
            <a:off x="457200" y="4724400"/>
            <a:ext cx="762000" cy="38100"/>
          </a:xfrm>
          <a:prstGeom prst="rect">
            <a:avLst/>
          </a:prstGeom>
          <a:solidFill>
            <a:srgbClr val="C0562F"/>
          </a:solidFill>
          <a:ln>
            <a:noFill/>
          </a:ln>
        </p:spPr>
      </p:sp>
      <p:sp>
        <p:nvSpPr>
          <p:cNvPr id="7" name="cover-sub"/>
          <p:cNvSpPr txBox="1"/>
          <p:nvPr/>
        </p:nvSpPr>
        <p:spPr>
          <a:xfrm>
            <a:off x="457200" y="4978400"/>
            <a:ext cx="40132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50000"/>
              </a:lnSpc>
            </a:pPr>
            <a:r>
              <a:rPr lang="en-US" sz="1400" noProof="1">
                <a:solidFill>
                  <a:srgbClr val="BFD3D6"/>
                </a:solidFill>
                <a:latin typeface="MiSans"/>
                <a:ea typeface="MiSans"/>
              </a:rPr>
              <a:t>数据清洗 → 探索性分析 → 模型比较 → 特征消融 → 误差分析</a:t>
            </a:r>
            <a:endParaRPr lang="en-US" sz="1400" noProof="1"/>
          </a:p>
          <a:p>
            <a:pPr>
              <a:lnSpc>
                <a:spcPct val="150000"/>
              </a:lnSpc>
            </a:pPr>
            <a:r>
              <a:rPr lang="en-US" sz="1400" noProof="1">
                <a:solidFill>
                  <a:srgbClr val="BFD3D6"/>
                </a:solidFill>
                <a:latin typeface="MiSans"/>
                <a:ea typeface="MiSans"/>
              </a:rPr>
              <a:t>预测目标：</a:t>
            </a:r>
            <a:r>
              <a:rPr lang="en-US" sz="1400" noProof="1">
                <a:solidFill>
                  <a:srgbClr val="FFFFFF"/>
                </a:solidFill>
                <a:highlight>
                  <a:srgbClr val="C0562F"/>
                </a:highlight>
                <a:latin typeface="MiSans"/>
                <a:ea typeface="MiSans"/>
              </a:rPr>
              <a:t> 未来 1 小时 · 三区域负荷 </a:t>
            </a:r>
            <a:endParaRPr lang="en-US" sz="1400" noProof="1"/>
          </a:p>
        </p:txBody>
      </p:sp>
      <p:sp>
        <p:nvSpPr>
          <p:cNvPr id="8" name="meta-course"/>
          <p:cNvSpPr txBox="1"/>
          <p:nvPr/>
        </p:nvSpPr>
        <p:spPr>
          <a:xfrm>
            <a:off x="5461000" y="1524000"/>
            <a:ext cx="6096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200" noProof="1" spc="100" kern="0">
                <a:solidFill>
                  <a:srgbClr val="6E767C"/>
                </a:solidFill>
                <a:latin typeface="MiSans"/>
                <a:ea typeface="MiSans"/>
              </a:rPr>
              <a:t>《Python 数据分析编程》课程汇报</a:t>
            </a:r>
            <a:endParaRPr lang="en-US" sz="1200" noProof="1"/>
          </a:p>
        </p:txBody>
      </p:sp>
      <p:sp>
        <p:nvSpPr>
          <p:cNvPr id="9" name="meta-members-label"/>
          <p:cNvSpPr txBox="1"/>
          <p:nvPr/>
        </p:nvSpPr>
        <p:spPr>
          <a:xfrm>
            <a:off x="5461000" y="2159000"/>
            <a:ext cx="6096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6E767C"/>
                </a:solidFill>
                <a:latin typeface="MiSans"/>
                <a:ea typeface="MiSans"/>
              </a:rPr>
              <a:t>小组成员</a:t>
            </a:r>
            <a:endParaRPr lang="en-US" sz="1200" noProof="1"/>
          </a:p>
        </p:txBody>
      </p:sp>
      <p:sp>
        <p:nvSpPr>
          <p:cNvPr id="10" name="meta-members"/>
          <p:cNvSpPr txBox="1"/>
          <p:nvPr/>
        </p:nvSpPr>
        <p:spPr>
          <a:xfrm>
            <a:off x="5461000" y="2438400"/>
            <a:ext cx="6096000" cy="1143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60000"/>
              </a:lnSpc>
            </a:pPr>
            <a:r>
              <a:rPr lang="en-US" sz="1500" noProof="1" b="1">
                <a:solidFill>
                  <a:srgbClr val="232A30"/>
                </a:solidFill>
                <a:latin typeface="MiSans"/>
                <a:ea typeface="MiSans"/>
              </a:rPr>
              <a:t>郑宜桥</a:t>
            </a:r>
            <a:r>
              <a:rPr lang="en-US" sz="1500" noProof="1">
                <a:solidFill>
                  <a:srgbClr val="232A30"/>
                </a:solidFill>
                <a:latin typeface="MiSans"/>
                <a:ea typeface="MiSans"/>
              </a:rPr>
              <a:t>　数据清洗与探索性分析（A 模块）</a:t>
            </a:r>
            <a:endParaRPr lang="en-US" sz="1500" noProof="1"/>
          </a:p>
          <a:p>
            <a:pPr>
              <a:lnSpc>
                <a:spcPct val="160000"/>
              </a:lnSpc>
            </a:pPr>
            <a:r>
              <a:rPr lang="en-US" sz="1500" noProof="1" b="1">
                <a:solidFill>
                  <a:srgbClr val="232A30"/>
                </a:solidFill>
                <a:latin typeface="MiSans"/>
                <a:ea typeface="MiSans"/>
              </a:rPr>
              <a:t>况子昱</a:t>
            </a:r>
            <a:r>
              <a:rPr lang="en-US" sz="1500" noProof="1">
                <a:solidFill>
                  <a:srgbClr val="232A30"/>
                </a:solidFill>
                <a:latin typeface="MiSans"/>
                <a:ea typeface="MiSans"/>
              </a:rPr>
              <a:t>　预测模型与时间序列验证（B 模块）</a:t>
            </a:r>
            <a:endParaRPr lang="en-US" sz="1500" noProof="1"/>
          </a:p>
          <a:p>
            <a:pPr>
              <a:lnSpc>
                <a:spcPct val="160000"/>
              </a:lnSpc>
            </a:pPr>
            <a:r>
              <a:rPr lang="en-US" sz="1500" noProof="1" b="1">
                <a:solidFill>
                  <a:srgbClr val="232A30"/>
                </a:solidFill>
                <a:latin typeface="MiSans"/>
                <a:ea typeface="MiSans"/>
              </a:rPr>
              <a:t>徐启翔</a:t>
            </a:r>
            <a:r>
              <a:rPr lang="en-US" sz="1500" noProof="1">
                <a:solidFill>
                  <a:srgbClr val="232A30"/>
                </a:solidFill>
                <a:latin typeface="MiSans"/>
                <a:ea typeface="MiSans"/>
              </a:rPr>
              <a:t>　消融实验、误差分析与报告整合（C 模块）</a:t>
            </a:r>
            <a:endParaRPr lang="en-US" sz="1500" noProof="1"/>
          </a:p>
        </p:txBody>
      </p:sp>
      <p:sp>
        <p:nvSpPr>
          <p:cNvPr id="11" name="meta-line"/>
          <p:cNvSpPr/>
          <p:nvPr/>
        </p:nvSpPr>
        <p:spPr>
          <a:xfrm>
            <a:off x="5461000" y="3810000"/>
            <a:ext cx="6096000" cy="12700"/>
          </a:xfrm>
          <a:prstGeom prst="rect">
            <a:avLst/>
          </a:prstGeom>
          <a:solidFill>
            <a:srgbClr val="D8D4CB"/>
          </a:solidFill>
          <a:ln>
            <a:noFill/>
          </a:ln>
        </p:spPr>
      </p:sp>
      <p:sp>
        <p:nvSpPr>
          <p:cNvPr id="12" name="meta-repo-label"/>
          <p:cNvSpPr txBox="1"/>
          <p:nvPr/>
        </p:nvSpPr>
        <p:spPr>
          <a:xfrm>
            <a:off x="5461000" y="4038600"/>
            <a:ext cx="6096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6E767C"/>
                </a:solidFill>
                <a:latin typeface="MiSans"/>
                <a:ea typeface="MiSans"/>
              </a:rPr>
              <a:t>GitHub 仓库</a:t>
            </a:r>
            <a:endParaRPr lang="en-US" sz="1200" noProof="1"/>
          </a:p>
        </p:txBody>
      </p:sp>
      <p:sp>
        <p:nvSpPr>
          <p:cNvPr id="13" name="meta-repo"/>
          <p:cNvSpPr txBox="1"/>
          <p:nvPr/>
        </p:nvSpPr>
        <p:spPr>
          <a:xfrm>
            <a:off x="5461000" y="4318000"/>
            <a:ext cx="6096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400" noProof="1" u="sng">
                <a:solidFill>
                  <a:srgbClr val="0563C1"/>
                </a:solidFill>
                <a:latin typeface="MiSans"/>
                <a:ea typeface="MiSans"/>
                <a:hlinkClick r:id="rId2"/>
              </a:rPr>
              <a:t>github.com/77xiang/python_data_processing</a:t>
            </a:r>
            <a:endParaRPr lang="en-US" sz="1400" noProof="1"/>
          </a:p>
        </p:txBody>
      </p:sp>
      <p:sp>
        <p:nvSpPr>
          <p:cNvPr id="14" name="meta-data"/>
          <p:cNvSpPr txBox="1"/>
          <p:nvPr/>
        </p:nvSpPr>
        <p:spPr>
          <a:xfrm>
            <a:off x="5461000" y="50292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6E767C"/>
                </a:solidFill>
                <a:latin typeface="MiSans"/>
                <a:ea typeface="MiSans"/>
              </a:rPr>
              <a:t>数据：城市电力负荷监测数据，2017 年 1 月 1 日 — 12 月 30 日</a:t>
            </a:r>
            <a:endParaRPr lang="en-US" sz="1200" noProof="1"/>
          </a:p>
          <a:p>
            <a:pPr>
              <a:lnSpc>
                <a:spcPct val="150000"/>
              </a:lnSpc>
            </a:pPr>
            <a:r>
              <a:rPr lang="en-US" sz="1200" noProof="1" b="1">
                <a:solidFill>
                  <a:srgbClr val="C0562F"/>
                </a:solidFill>
                <a:latin typeface="MiSans"/>
                <a:ea typeface="MiSans"/>
              </a:rPr>
              <a:t>52,416</a:t>
            </a:r>
            <a:r>
              <a:rPr lang="en-US" sz="1200" noProof="1">
                <a:solidFill>
                  <a:srgbClr val="6E767C"/>
                </a:solidFill>
                <a:latin typeface="MiSans"/>
                <a:ea typeface="MiSans"/>
              </a:rPr>
              <a:t> 条记录 · </a:t>
            </a:r>
            <a:r>
              <a:rPr lang="en-US" sz="1200" noProof="1" b="1">
                <a:solidFill>
                  <a:srgbClr val="C0562F"/>
                </a:solidFill>
                <a:latin typeface="MiSans"/>
                <a:ea typeface="MiSans"/>
              </a:rPr>
              <a:t>10 分钟</a:t>
            </a:r>
            <a:r>
              <a:rPr lang="en-US" sz="1200" noProof="1">
                <a:solidFill>
                  <a:srgbClr val="6E767C"/>
                </a:solidFill>
                <a:latin typeface="MiSans"/>
                <a:ea typeface="MiSans"/>
              </a:rPr>
              <a:t>采样 · 三区域负荷 + 五类天气变量</a:t>
            </a:r>
            <a:endParaRPr lang="en-US" sz="12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-bar"/>
          <p:cNvSpPr/>
          <p:nvPr/>
        </p:nvSpPr>
        <p:spPr>
          <a:xfrm>
            <a:off x="508000" y="431800"/>
            <a:ext cx="76200" cy="330200"/>
          </a:xfrm>
          <a:prstGeom prst="rect">
            <a:avLst/>
          </a:prstGeom>
          <a:solidFill>
            <a:srgbClr val="C0562F"/>
          </a:solidFill>
          <a:ln>
            <a:noFill/>
          </a:ln>
        </p:spPr>
      </p:sp>
      <p:sp>
        <p:nvSpPr>
          <p:cNvPr id="3" name="hdr-title"/>
          <p:cNvSpPr txBox="1"/>
          <p:nvPr/>
        </p:nvSpPr>
        <p:spPr>
          <a:xfrm>
            <a:off x="711200" y="406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2600" noProof="1" b="1">
                <a:solidFill>
                  <a:srgbClr val="232A30"/>
                </a:solidFill>
                <a:latin typeface="MiSans"/>
                <a:ea typeface="MiSans"/>
              </a:rPr>
              <a:t>研究背景与技术路线</a:t>
            </a:r>
            <a:endParaRPr lang="en-US" sz="2600" noProof="1"/>
          </a:p>
        </p:txBody>
      </p:sp>
      <p:sp>
        <p:nvSpPr>
          <p:cNvPr id="4" name="hdr-tag"/>
          <p:cNvSpPr txBox="1"/>
          <p:nvPr/>
        </p:nvSpPr>
        <p:spPr>
          <a:xfrm>
            <a:off x="9906000" y="482600"/>
            <a:ext cx="1778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E767C"/>
                </a:solidFill>
                <a:latin typeface="MiSans"/>
                <a:ea typeface="MiSans"/>
              </a:rPr>
              <a:t>01 · 研究设计</a:t>
            </a:r>
            <a:endParaRPr lang="en-US" sz="1100" noProof="1"/>
          </a:p>
        </p:txBody>
      </p:sp>
      <p:sp>
        <p:nvSpPr>
          <p:cNvPr id="5" name="hdr-line"/>
          <p:cNvSpPr/>
          <p:nvPr/>
        </p:nvSpPr>
        <p:spPr>
          <a:xfrm>
            <a:off x="508000" y="889000"/>
            <a:ext cx="11176000" cy="12700"/>
          </a:xfrm>
          <a:prstGeom prst="rect">
            <a:avLst/>
          </a:prstGeom>
          <a:solidFill>
            <a:srgbClr val="D8D4CB"/>
          </a:solidFill>
          <a:ln>
            <a:noFill/>
          </a:ln>
        </p:spPr>
      </p:sp>
      <p:sp>
        <p:nvSpPr>
          <p:cNvPr id="6" name="bg-text"/>
          <p:cNvSpPr txBox="1"/>
          <p:nvPr/>
        </p:nvSpPr>
        <p:spPr>
          <a:xfrm>
            <a:off x="508000" y="1168400"/>
            <a:ext cx="5334000" cy="279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50000"/>
              </a:lnSpc>
            </a:pPr>
            <a:r>
              <a:rPr lang="en-US" sz="1400" noProof="1" b="1">
                <a:solidFill>
                  <a:srgbClr val="232A30"/>
                </a:solidFill>
                <a:latin typeface="MiSans"/>
                <a:ea typeface="MiSans"/>
              </a:rPr>
              <a:t>为什么做短期负荷预测</a:t>
            </a:r>
            <a:endParaRPr lang="en-US" sz="1400" noProof="1"/>
          </a:p>
          <a:p>
            <a:pPr>
              <a:lnSpc>
                <a:spcPct val="150000"/>
              </a:lnSpc>
            </a:pPr>
            <a:r>
              <a:rPr lang="en-US" sz="1400" noProof="1">
                <a:solidFill>
                  <a:srgbClr val="232A30"/>
                </a:solidFill>
                <a:latin typeface="MiSans"/>
                <a:ea typeface="MiSans"/>
              </a:rPr>
              <a:t>短期负荷预测直接服务于电网调度：预测偏差会转化为备用容量的浪费或供电缺口风险，</a:t>
            </a:r>
            <a:r>
              <a:rPr lang="en-US" sz="1400" noProof="1">
                <a:solidFill>
                  <a:srgbClr val="FFFFFF"/>
                </a:solidFill>
                <a:highlight>
                  <a:srgbClr val="C0562F"/>
                </a:highlight>
                <a:latin typeface="MiSans"/>
                <a:ea typeface="MiSans"/>
              </a:rPr>
              <a:t> 高峰时段的低估对调度最不安全 </a:t>
            </a:r>
            <a:r>
              <a:rPr lang="en-US" sz="1400" noProof="1">
                <a:solidFill>
                  <a:srgbClr val="232A30"/>
                </a:solidFill>
                <a:latin typeface="MiSans"/>
                <a:ea typeface="MiSans"/>
              </a:rPr>
              <a:t>。</a:t>
            </a:r>
            <a:endParaRPr lang="en-US" sz="1400" noProof="1"/>
          </a:p>
          <a:p>
            <a:pPr>
              <a:lnSpc>
                <a:spcPct val="150000"/>
              </a:lnSpc>
              <a:spcBef>
                <a:spcPts val="1000"/>
              </a:spcBef>
            </a:pPr>
            <a:r>
              <a:rPr lang="en-US" sz="1400" noProof="1" b="1">
                <a:solidFill>
                  <a:srgbClr val="232A30"/>
                </a:solidFill>
                <a:latin typeface="MiSans"/>
                <a:ea typeface="MiSans"/>
              </a:rPr>
              <a:t>研究目标</a:t>
            </a:r>
            <a:endParaRPr lang="en-US" sz="1400" noProof="1"/>
          </a:p>
          <a:p>
            <a:pPr>
              <a:lnSpc>
                <a:spcPct val="150000"/>
              </a:lnSpc>
            </a:pPr>
            <a:r>
              <a:rPr lang="en-US" sz="1400" noProof="1">
                <a:solidFill>
                  <a:srgbClr val="232A30"/>
                </a:solidFill>
                <a:latin typeface="MiSans"/>
                <a:ea typeface="MiSans"/>
              </a:rPr>
              <a:t>基于历史负荷与气象观测，预测 </a:t>
            </a:r>
            <a:r>
              <a:rPr lang="en-US" sz="1400" noProof="1" b="1">
                <a:solidFill>
                  <a:srgbClr val="C0562F"/>
                </a:solidFill>
                <a:latin typeface="MiSans"/>
                <a:ea typeface="MiSans"/>
              </a:rPr>
              <a:t>1 小时后</a:t>
            </a:r>
            <a:r>
              <a:rPr lang="en-US" sz="1400" noProof="1">
                <a:solidFill>
                  <a:srgbClr val="232A30"/>
                </a:solidFill>
                <a:latin typeface="MiSans"/>
                <a:ea typeface="MiSans"/>
              </a:rPr>
              <a:t>（t+6，10 分钟采样）三个区域的电力负荷，并检验机器学习模型相对简单历史基线是否真正有效。</a:t>
            </a:r>
            <a:endParaRPr lang="en-US" sz="1400" noProof="1"/>
          </a:p>
        </p:txBody>
      </p:sp>
      <p:sp>
        <p:nvSpPr>
          <p:cNvPr id="7" name="bg-question"/>
          <p:cNvSpPr txBox="1"/>
          <p:nvPr/>
        </p:nvSpPr>
        <p:spPr>
          <a:xfrm>
            <a:off x="508000" y="4191000"/>
            <a:ext cx="5334000" cy="1143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5000"/>
              </a:lnSpc>
            </a:pPr>
            <a:r>
              <a:rPr lang="en-US" sz="1300" noProof="1" b="1">
                <a:solidFill>
                  <a:srgbClr val="FFFFFF"/>
                </a:solidFill>
                <a:highlight>
                  <a:srgbClr val="C0562F"/>
                </a:highlight>
                <a:latin typeface="MiSans"/>
                <a:ea typeface="MiSans"/>
              </a:rPr>
              <a:t> 核心研究问题 </a:t>
            </a:r>
            <a:endParaRPr lang="en-US" sz="1300" noProof="1"/>
          </a:p>
          <a:p>
            <a:pPr>
              <a:lnSpc>
                <a:spcPct val="145000"/>
              </a:lnSpc>
            </a:pPr>
            <a:r>
              <a:rPr lang="en-US" sz="1300" noProof="1">
                <a:solidFill>
                  <a:srgbClr val="232A30"/>
                </a:solidFill>
                <a:latin typeface="MiSans"/>
                <a:ea typeface="MiSans"/>
              </a:rPr>
              <a:t>① 学习模型能否稳定超越"上周同一时刻"基线？</a:t>
            </a:r>
            <a:endParaRPr lang="en-US" sz="1300" noProof="1"/>
          </a:p>
          <a:p>
            <a:pPr>
              <a:lnSpc>
                <a:spcPct val="145000"/>
              </a:lnSpc>
            </a:pPr>
            <a:r>
              <a:rPr lang="en-US" sz="1300" noProof="1">
                <a:solidFill>
                  <a:srgbClr val="232A30"/>
                </a:solidFill>
                <a:latin typeface="MiSans"/>
                <a:ea typeface="MiSans"/>
              </a:rPr>
              <a:t>② 天气特征的增益有多大、是否稳定？</a:t>
            </a:r>
            <a:endParaRPr lang="en-US" sz="1300" noProof="1"/>
          </a:p>
          <a:p>
            <a:pPr>
              <a:lnSpc>
                <a:spcPct val="145000"/>
              </a:lnSpc>
            </a:pPr>
            <a:r>
              <a:rPr lang="en-US" sz="1300" noProof="1">
                <a:solidFill>
                  <a:srgbClr val="232A30"/>
                </a:solidFill>
                <a:latin typeface="MiSans"/>
                <a:ea typeface="MiSans"/>
              </a:rPr>
              <a:t>③ 高负荷时段误差是否恶化、方向如何？</a:t>
            </a:r>
            <a:endParaRPr lang="en-US" sz="1300" noProof="1"/>
          </a:p>
        </p:txBody>
      </p:sp>
      <p:sp>
        <p:nvSpPr>
          <p:cNvPr id="8" name="flow-label"/>
          <p:cNvSpPr txBox="1"/>
          <p:nvPr/>
        </p:nvSpPr>
        <p:spPr>
          <a:xfrm>
            <a:off x="6350000" y="1168400"/>
            <a:ext cx="5334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300" noProof="1" b="1">
                <a:solidFill>
                  <a:srgbClr val="232A30"/>
                </a:solidFill>
                <a:latin typeface="MiSans"/>
                <a:ea typeface="MiSans"/>
              </a:rPr>
              <a:t>技术路线（五个环节）</a:t>
            </a:r>
            <a:endParaRPr lang="en-US" sz="1300" noProof="1"/>
          </a:p>
        </p:txBody>
      </p:sp>
      <p:sp>
        <p:nvSpPr>
          <p:cNvPr id="9" name="flow-s1"/>
          <p:cNvSpPr/>
          <p:nvPr/>
        </p:nvSpPr>
        <p:spPr>
          <a:xfrm>
            <a:off x="6350000" y="1549400"/>
            <a:ext cx="1905000" cy="787400"/>
          </a:xfrm>
          <a:prstGeom prst="homePlate">
            <a:avLst>
              <a:gd name="adj" fmla="val 28000"/>
            </a:avLst>
          </a:prstGeom>
          <a:solidFill>
            <a:srgbClr val="16424B"/>
          </a:solidFill>
          <a:ln>
            <a:noFill/>
          </a:ln>
        </p:spPr>
      </p:sp>
      <p:sp>
        <p:nvSpPr>
          <p:cNvPr id="10" name="flow-t1"/>
          <p:cNvSpPr txBox="1"/>
          <p:nvPr/>
        </p:nvSpPr>
        <p:spPr>
          <a:xfrm>
            <a:off x="6400800" y="1625600"/>
            <a:ext cx="1625600" cy="635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 b="1">
                <a:solidFill>
                  <a:srgbClr val="FFFFFF"/>
                </a:solidFill>
                <a:latin typeface="MiSans"/>
                <a:ea typeface="MiSans"/>
              </a:rPr>
              <a:t>数据清洗</a:t>
            </a:r>
            <a:endParaRPr lang="en-US" sz="1200" noProof="1"/>
          </a:p>
          <a:p>
            <a:pPr algn="ctr">
              <a:lnSpc>
                <a:spcPct val="120000"/>
              </a:lnSpc>
              <a:spcBef>
                <a:spcPts val="200"/>
              </a:spcBef>
            </a:pPr>
            <a:r>
              <a:rPr lang="en-US" sz="1000" noProof="1" b="1">
                <a:solidFill>
                  <a:srgbClr val="BFD3D6"/>
                </a:solidFill>
                <a:latin typeface="MiSans"/>
                <a:ea typeface="MiSans"/>
              </a:rPr>
              <a:t>审计 · 规整 · 校验</a:t>
            </a:r>
            <a:endParaRPr lang="en-US" sz="1200" noProof="1"/>
          </a:p>
        </p:txBody>
      </p:sp>
      <p:sp>
        <p:nvSpPr>
          <p:cNvPr id="11" name="flow-s2"/>
          <p:cNvSpPr/>
          <p:nvPr/>
        </p:nvSpPr>
        <p:spPr>
          <a:xfrm>
            <a:off x="8356600" y="1549400"/>
            <a:ext cx="1905000" cy="787400"/>
          </a:xfrm>
          <a:prstGeom prst="homePlate">
            <a:avLst>
              <a:gd name="adj" fmla="val 28000"/>
            </a:avLst>
          </a:prstGeom>
          <a:solidFill>
            <a:srgbClr val="2E7D74"/>
          </a:solidFill>
          <a:ln>
            <a:noFill/>
          </a:ln>
        </p:spPr>
      </p:sp>
      <p:sp>
        <p:nvSpPr>
          <p:cNvPr id="12" name="flow-t2"/>
          <p:cNvSpPr txBox="1"/>
          <p:nvPr/>
        </p:nvSpPr>
        <p:spPr>
          <a:xfrm>
            <a:off x="8407400" y="1625600"/>
            <a:ext cx="1625600" cy="635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 b="1">
                <a:solidFill>
                  <a:srgbClr val="FFFFFF"/>
                </a:solidFill>
                <a:latin typeface="MiSans"/>
                <a:ea typeface="MiSans"/>
              </a:rPr>
              <a:t>探索性分析</a:t>
            </a:r>
            <a:endParaRPr lang="en-US" sz="1200" noProof="1"/>
          </a:p>
          <a:p>
            <a:pPr algn="ctr">
              <a:lnSpc>
                <a:spcPct val="120000"/>
              </a:lnSpc>
              <a:spcBef>
                <a:spcPts val="200"/>
              </a:spcBef>
            </a:pPr>
            <a:r>
              <a:rPr lang="en-US" sz="1000" noProof="1" b="1">
                <a:solidFill>
                  <a:srgbClr val="D3E4E1"/>
                </a:solidFill>
                <a:latin typeface="MiSans"/>
                <a:ea typeface="MiSans"/>
              </a:rPr>
              <a:t>日/周/季节规律</a:t>
            </a:r>
            <a:endParaRPr lang="en-US" sz="1200" noProof="1"/>
          </a:p>
        </p:txBody>
      </p:sp>
      <p:sp>
        <p:nvSpPr>
          <p:cNvPr id="13" name="flow-s3"/>
          <p:cNvSpPr/>
          <p:nvPr/>
        </p:nvSpPr>
        <p:spPr>
          <a:xfrm>
            <a:off x="6350000" y="2540000"/>
            <a:ext cx="1905000" cy="787400"/>
          </a:xfrm>
          <a:prstGeom prst="homePlate">
            <a:avLst>
              <a:gd name="adj" fmla="val 28000"/>
            </a:avLst>
          </a:prstGeom>
          <a:solidFill>
            <a:srgbClr val="2E7D74"/>
          </a:solidFill>
          <a:ln>
            <a:noFill/>
          </a:ln>
        </p:spPr>
      </p:sp>
      <p:sp>
        <p:nvSpPr>
          <p:cNvPr id="14" name="flow-t3"/>
          <p:cNvSpPr txBox="1"/>
          <p:nvPr/>
        </p:nvSpPr>
        <p:spPr>
          <a:xfrm>
            <a:off x="6400800" y="2616200"/>
            <a:ext cx="1625600" cy="635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 b="1">
                <a:solidFill>
                  <a:srgbClr val="FFFFFF"/>
                </a:solidFill>
                <a:latin typeface="MiSans"/>
                <a:ea typeface="MiSans"/>
              </a:rPr>
              <a:t>模型训练</a:t>
            </a:r>
            <a:endParaRPr lang="en-US" sz="1200" noProof="1"/>
          </a:p>
          <a:p>
            <a:pPr algn="ctr">
              <a:lnSpc>
                <a:spcPct val="120000"/>
              </a:lnSpc>
              <a:spcBef>
                <a:spcPts val="200"/>
              </a:spcBef>
            </a:pPr>
            <a:r>
              <a:rPr lang="en-US" sz="1000" noProof="1" b="1">
                <a:solidFill>
                  <a:srgbClr val="D3E4E1"/>
                </a:solidFill>
                <a:latin typeface="MiSans"/>
                <a:ea typeface="MiSans"/>
              </a:rPr>
              <a:t>基线 / LR / GBT</a:t>
            </a:r>
            <a:endParaRPr lang="en-US" sz="1200" noProof="1"/>
          </a:p>
        </p:txBody>
      </p:sp>
      <p:sp>
        <p:nvSpPr>
          <p:cNvPr id="15" name="flow-s4"/>
          <p:cNvSpPr/>
          <p:nvPr/>
        </p:nvSpPr>
        <p:spPr>
          <a:xfrm>
            <a:off x="8356600" y="2540000"/>
            <a:ext cx="1905000" cy="787400"/>
          </a:xfrm>
          <a:prstGeom prst="homePlate">
            <a:avLst>
              <a:gd name="adj" fmla="val 28000"/>
            </a:avLst>
          </a:prstGeom>
          <a:solidFill>
            <a:srgbClr val="16424B"/>
          </a:solidFill>
          <a:ln>
            <a:noFill/>
          </a:ln>
        </p:spPr>
      </p:sp>
      <p:sp>
        <p:nvSpPr>
          <p:cNvPr id="16" name="flow-t4"/>
          <p:cNvSpPr txBox="1"/>
          <p:nvPr/>
        </p:nvSpPr>
        <p:spPr>
          <a:xfrm>
            <a:off x="8407400" y="2616200"/>
            <a:ext cx="1625600" cy="635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 b="1">
                <a:solidFill>
                  <a:srgbClr val="FFFFFF"/>
                </a:solidFill>
                <a:latin typeface="MiSans"/>
                <a:ea typeface="MiSans"/>
              </a:rPr>
              <a:t>特征消融</a:t>
            </a:r>
            <a:endParaRPr lang="en-US" sz="1200" noProof="1"/>
          </a:p>
          <a:p>
            <a:pPr algn="ctr">
              <a:lnSpc>
                <a:spcPct val="120000"/>
              </a:lnSpc>
              <a:spcBef>
                <a:spcPts val="200"/>
              </a:spcBef>
            </a:pPr>
            <a:r>
              <a:rPr lang="en-US" sz="1000" noProof="1" b="1">
                <a:solidFill>
                  <a:srgbClr val="BFD3D6"/>
                </a:solidFill>
                <a:latin typeface="MiSans"/>
                <a:ea typeface="MiSans"/>
              </a:rPr>
              <a:t>周同期 · 天气</a:t>
            </a:r>
            <a:endParaRPr lang="en-US" sz="1200" noProof="1"/>
          </a:p>
        </p:txBody>
      </p:sp>
      <p:sp>
        <p:nvSpPr>
          <p:cNvPr id="17" name="flow-s5"/>
          <p:cNvSpPr/>
          <p:nvPr/>
        </p:nvSpPr>
        <p:spPr>
          <a:xfrm>
            <a:off x="6350000" y="3530600"/>
            <a:ext cx="3911600" cy="787400"/>
          </a:xfrm>
          <a:prstGeom prst="homePlate">
            <a:avLst>
              <a:gd name="adj" fmla="val 14000"/>
            </a:avLst>
          </a:prstGeom>
          <a:solidFill>
            <a:srgbClr val="C0562F"/>
          </a:solidFill>
          <a:ln>
            <a:noFill/>
          </a:ln>
        </p:spPr>
      </p:sp>
      <p:sp>
        <p:nvSpPr>
          <p:cNvPr id="18" name="flow-t5"/>
          <p:cNvSpPr txBox="1"/>
          <p:nvPr/>
        </p:nvSpPr>
        <p:spPr>
          <a:xfrm>
            <a:off x="6502400" y="3606800"/>
            <a:ext cx="3429000" cy="635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 b="1">
                <a:solidFill>
                  <a:srgbClr val="FFFFFF"/>
                </a:solidFill>
                <a:latin typeface="MiSans"/>
                <a:ea typeface="MiSans"/>
              </a:rPr>
              <a:t>误差分析与结论</a:t>
            </a:r>
            <a:endParaRPr lang="en-US" sz="1200" noProof="1"/>
          </a:p>
          <a:p>
            <a:pPr algn="ctr">
              <a:lnSpc>
                <a:spcPct val="120000"/>
              </a:lnSpc>
              <a:spcBef>
                <a:spcPts val="200"/>
              </a:spcBef>
            </a:pPr>
            <a:r>
              <a:rPr lang="en-US" sz="1000" noProof="1" b="1">
                <a:solidFill>
                  <a:srgbClr val="F2D3C5"/>
                </a:solidFill>
                <a:latin typeface="MiSans"/>
                <a:ea typeface="MiSans"/>
              </a:rPr>
              <a:t>分区域 / 分时段 / 高负荷样本</a:t>
            </a:r>
            <a:endParaRPr lang="en-US" sz="1200" noProof="1"/>
          </a:p>
        </p:txBody>
      </p:sp>
      <p:sp>
        <p:nvSpPr>
          <p:cNvPr id="19" name="flow-note"/>
          <p:cNvSpPr txBox="1"/>
          <p:nvPr/>
        </p:nvSpPr>
        <p:spPr>
          <a:xfrm>
            <a:off x="6350000" y="4597400"/>
            <a:ext cx="5334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6E767C"/>
                </a:solidFill>
                <a:latin typeface="MiSans"/>
                <a:ea typeface="MiSans"/>
              </a:rPr>
              <a:t>验证设计：训练 / 验证 / 测试</a:t>
            </a:r>
            <a:r>
              <a:rPr lang="en-US" sz="1200" noProof="1" b="1">
                <a:solidFill>
                  <a:srgbClr val="C0562F"/>
                </a:solidFill>
                <a:latin typeface="MiSans"/>
                <a:ea typeface="MiSans"/>
              </a:rPr>
              <a:t>严格按时间顺序切分</a:t>
            </a:r>
            <a:r>
              <a:rPr lang="en-US" sz="1200" noProof="1">
                <a:solidFill>
                  <a:srgbClr val="6E767C"/>
                </a:solidFill>
                <a:latin typeface="MiSans"/>
                <a:ea typeface="MiSans"/>
              </a:rPr>
              <a:t>，子集边界剔除 6 个起点切断泄漏；评价指标 MAE / RMSE / MSE，跨区域比较使用 nRMSE。</a:t>
            </a:r>
            <a:endParaRPr lang="en-US" sz="1200" noProof="1"/>
          </a:p>
        </p:txBody>
      </p:sp>
      <p:sp>
        <p:nvSpPr>
          <p:cNvPr id="20" name="foot-line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8D4CB"/>
          </a:solidFill>
          <a:ln>
            <a:noFill/>
          </a:ln>
        </p:spPr>
      </p:sp>
      <p:sp>
        <p:nvSpPr>
          <p:cNvPr id="21" name="foot"/>
          <p:cNvSpPr txBox="1"/>
          <p:nvPr/>
        </p:nvSpPr>
        <p:spPr>
          <a:xfrm>
            <a:off x="508000" y="6502400"/>
            <a:ext cx="11176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E767C"/>
                </a:solidFill>
                <a:latin typeface="MiSans"/>
                <a:ea typeface="MiSans"/>
              </a:rPr>
              <a:t>《Python 数据分析编程》课程汇报 · 城市短期电力负荷预测</a:t>
            </a:r>
            <a:endParaRPr lang="en-US" sz="1000" noProof="1"/>
          </a:p>
        </p:txBody>
      </p:sp>
      <p:sp>
        <p:nvSpPr>
          <p:cNvPr id="22" name="page-num"/>
          <p:cNvSpPr txBox="1"/>
          <p:nvPr/>
        </p:nvSpPr>
        <p:spPr>
          <a:xfrm>
            <a:off x="11176000" y="6502400"/>
            <a:ext cx="508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E767C"/>
                </a:solidFill>
                <a:latin typeface="MiSans"/>
                <a:ea typeface="MiSans"/>
              </a:rPr>
              <a:t>2 / 9</a:t>
            </a:r>
            <a:endParaRPr lang="en-US" sz="100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-bar"/>
          <p:cNvSpPr/>
          <p:nvPr/>
        </p:nvSpPr>
        <p:spPr>
          <a:xfrm>
            <a:off x="508000" y="431800"/>
            <a:ext cx="76200" cy="330200"/>
          </a:xfrm>
          <a:prstGeom prst="rect">
            <a:avLst/>
          </a:prstGeom>
          <a:solidFill>
            <a:srgbClr val="C0562F"/>
          </a:solidFill>
          <a:ln>
            <a:noFill/>
          </a:ln>
        </p:spPr>
      </p:sp>
      <p:sp>
        <p:nvSpPr>
          <p:cNvPr id="3" name="hdr-title"/>
          <p:cNvSpPr txBox="1"/>
          <p:nvPr/>
        </p:nvSpPr>
        <p:spPr>
          <a:xfrm>
            <a:off x="711200" y="406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2600" noProof="1" b="1">
                <a:solidFill>
                  <a:srgbClr val="232A30"/>
                </a:solidFill>
                <a:latin typeface="MiSans"/>
                <a:ea typeface="MiSans"/>
              </a:rPr>
              <a:t>数据集与数据清洗</a:t>
            </a:r>
            <a:endParaRPr lang="en-US" sz="2600" noProof="1"/>
          </a:p>
        </p:txBody>
      </p:sp>
      <p:sp>
        <p:nvSpPr>
          <p:cNvPr id="4" name="hdr-tag"/>
          <p:cNvSpPr txBox="1"/>
          <p:nvPr/>
        </p:nvSpPr>
        <p:spPr>
          <a:xfrm>
            <a:off x="9906000" y="482600"/>
            <a:ext cx="1778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E767C"/>
                </a:solidFill>
                <a:latin typeface="MiSans"/>
                <a:ea typeface="MiSans"/>
              </a:rPr>
              <a:t>02 · 数据基础</a:t>
            </a:r>
            <a:endParaRPr lang="en-US" sz="1100" noProof="1"/>
          </a:p>
        </p:txBody>
      </p:sp>
      <p:sp>
        <p:nvSpPr>
          <p:cNvPr id="5" name="hdr-line"/>
          <p:cNvSpPr/>
          <p:nvPr/>
        </p:nvSpPr>
        <p:spPr>
          <a:xfrm>
            <a:off x="508000" y="889000"/>
            <a:ext cx="11176000" cy="12700"/>
          </a:xfrm>
          <a:prstGeom prst="rect">
            <a:avLst/>
          </a:prstGeom>
          <a:solidFill>
            <a:srgbClr val="D8D4CB"/>
          </a:solidFill>
          <a:ln>
            <a:noFill/>
          </a:ln>
        </p:spPr>
      </p:sp>
      <p:sp>
        <p:nvSpPr>
          <p:cNvPr id="6" name="num-1"/>
          <p:cNvSpPr txBox="1"/>
          <p:nvPr/>
        </p:nvSpPr>
        <p:spPr>
          <a:xfrm>
            <a:off x="508000" y="1168400"/>
            <a:ext cx="2540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3000" noProof="1" b="1">
                <a:solidFill>
                  <a:srgbClr val="C0562F"/>
                </a:solidFill>
                <a:latin typeface="MiSans"/>
                <a:ea typeface="MiSans"/>
              </a:rPr>
              <a:t>52,416</a:t>
            </a:r>
            <a:endParaRPr lang="en-US" sz="3000" noProof="1"/>
          </a:p>
        </p:txBody>
      </p:sp>
      <p:sp>
        <p:nvSpPr>
          <p:cNvPr id="7" name="num-1-label"/>
          <p:cNvSpPr txBox="1"/>
          <p:nvPr/>
        </p:nvSpPr>
        <p:spPr>
          <a:xfrm>
            <a:off x="508000" y="1701800"/>
            <a:ext cx="2540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30000"/>
              </a:lnSpc>
            </a:pPr>
            <a:r>
              <a:rPr lang="en-US" sz="1100" noProof="1">
                <a:solidFill>
                  <a:srgbClr val="6E767C"/>
                </a:solidFill>
                <a:latin typeface="MiSans"/>
                <a:ea typeface="MiSans"/>
              </a:rPr>
              <a:t>条记录 · 10 分钟采样，每日固定 144 条</a:t>
            </a:r>
            <a:endParaRPr lang="en-US" sz="1100" noProof="1"/>
          </a:p>
        </p:txBody>
      </p:sp>
      <p:sp>
        <p:nvSpPr>
          <p:cNvPr id="8" name="num-2"/>
          <p:cNvSpPr txBox="1"/>
          <p:nvPr/>
        </p:nvSpPr>
        <p:spPr>
          <a:xfrm>
            <a:off x="3175000" y="1168400"/>
            <a:ext cx="2540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3000" noProof="1" b="1">
                <a:solidFill>
                  <a:srgbClr val="C0562F"/>
                </a:solidFill>
                <a:latin typeface="MiSans"/>
                <a:ea typeface="MiSans"/>
              </a:rPr>
              <a:t>364 天</a:t>
            </a:r>
            <a:endParaRPr lang="en-US" sz="3000" noProof="1"/>
          </a:p>
        </p:txBody>
      </p:sp>
      <p:sp>
        <p:nvSpPr>
          <p:cNvPr id="9" name="num-2-label"/>
          <p:cNvSpPr txBox="1"/>
          <p:nvPr/>
        </p:nvSpPr>
        <p:spPr>
          <a:xfrm>
            <a:off x="3175000" y="1701800"/>
            <a:ext cx="2540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30000"/>
              </a:lnSpc>
            </a:pPr>
            <a:r>
              <a:rPr lang="en-US" sz="1100" noProof="1">
                <a:solidFill>
                  <a:srgbClr val="6E767C"/>
                </a:solidFill>
                <a:latin typeface="MiSans"/>
                <a:ea typeface="MiSans"/>
              </a:rPr>
              <a:t>2017-01-01 00:00 至 2017-12-30 23:50</a:t>
            </a:r>
            <a:endParaRPr lang="en-US" sz="1100" noProof="1"/>
          </a:p>
        </p:txBody>
      </p:sp>
      <p:sp>
        <p:nvSpPr>
          <p:cNvPr id="10" name="num-3"/>
          <p:cNvSpPr txBox="1"/>
          <p:nvPr/>
        </p:nvSpPr>
        <p:spPr>
          <a:xfrm>
            <a:off x="5842000" y="1168400"/>
            <a:ext cx="1524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3000" noProof="1" b="1">
                <a:solidFill>
                  <a:srgbClr val="C0562F"/>
                </a:solidFill>
                <a:latin typeface="MiSans"/>
                <a:ea typeface="MiSans"/>
              </a:rPr>
              <a:t>0</a:t>
            </a:r>
            <a:endParaRPr lang="en-US" sz="3000" noProof="1"/>
          </a:p>
        </p:txBody>
      </p:sp>
      <p:sp>
        <p:nvSpPr>
          <p:cNvPr id="11" name="num-3-label"/>
          <p:cNvSpPr txBox="1"/>
          <p:nvPr/>
        </p:nvSpPr>
        <p:spPr>
          <a:xfrm>
            <a:off x="5842000" y="1701800"/>
            <a:ext cx="2286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30000"/>
              </a:lnSpc>
            </a:pPr>
            <a:r>
              <a:rPr lang="en-US" sz="1100" noProof="1">
                <a:solidFill>
                  <a:srgbClr val="6E767C"/>
                </a:solidFill>
                <a:latin typeface="MiSans"/>
                <a:ea typeface="MiSans"/>
              </a:rPr>
              <a:t>缺失值 / 重复行 / 时间戳解析失败</a:t>
            </a:r>
            <a:endParaRPr lang="en-US" sz="1100" noProof="1"/>
          </a:p>
        </p:txBody>
      </p:sp>
      <p:sp>
        <p:nvSpPr>
          <p:cNvPr id="12" name="num-4"/>
          <p:cNvSpPr txBox="1"/>
          <p:nvPr/>
        </p:nvSpPr>
        <p:spPr>
          <a:xfrm>
            <a:off x="8255000" y="1168400"/>
            <a:ext cx="1524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3000" noProof="1" b="1">
                <a:solidFill>
                  <a:srgbClr val="C0562F"/>
                </a:solidFill>
                <a:latin typeface="MiSans"/>
                <a:ea typeface="MiSans"/>
              </a:rPr>
              <a:t>9 列</a:t>
            </a:r>
            <a:endParaRPr lang="en-US" sz="3000" noProof="1"/>
          </a:p>
        </p:txBody>
      </p:sp>
      <p:sp>
        <p:nvSpPr>
          <p:cNvPr id="13" name="num-4-label"/>
          <p:cNvSpPr txBox="1"/>
          <p:nvPr/>
        </p:nvSpPr>
        <p:spPr>
          <a:xfrm>
            <a:off x="8255000" y="1701800"/>
            <a:ext cx="3429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30000"/>
              </a:lnSpc>
            </a:pPr>
            <a:r>
              <a:rPr lang="en-US" sz="1100" noProof="1">
                <a:solidFill>
                  <a:srgbClr val="6E767C"/>
                </a:solidFill>
                <a:latin typeface="MiSans"/>
                <a:ea typeface="MiSans"/>
              </a:rPr>
              <a:t>时间戳 + 三区域负荷 + 温度 / 湿度 / 风速 / 两项辐射</a:t>
            </a:r>
            <a:endParaRPr lang="en-US" sz="1100" noProof="1"/>
          </a:p>
        </p:txBody>
      </p:sp>
      <p:sp>
        <p:nvSpPr>
          <p:cNvPr id="14" name="tbl-label"/>
          <p:cNvSpPr txBox="1"/>
          <p:nvPr/>
        </p:nvSpPr>
        <p:spPr>
          <a:xfrm>
            <a:off x="508000" y="24130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300" noProof="1" b="1">
                <a:solidFill>
                  <a:srgbClr val="232A30"/>
                </a:solidFill>
                <a:latin typeface="MiSans"/>
                <a:ea typeface="MiSans"/>
              </a:rPr>
              <a:t>数据质量检查与处理结果</a:t>
            </a:r>
            <a:endParaRPr lang="en-US" sz="1300" noProof="1"/>
          </a:p>
        </p:txBody>
      </p:sp>
      <p:graphicFrame>
        <p:nvGraphicFramePr>
          <p:cNvPr id="15" name="clean-table"/>
          <p:cNvGraphicFramePr>
            <a:graphicFrameLocks noGrp="1"/>
          </p:cNvGraphicFramePr>
          <p:nvPr/>
        </p:nvGraphicFramePr>
        <p:xfrm>
          <a:off x="508000" y="2717800"/>
          <a:ext cx="6604000" cy="2667000"/>
        </p:xfrm>
        <a:graphic>
          <a:graphicData uri="http://schemas.openxmlformats.org/drawingml/2006/table">
            <a:tbl>
              <a:tblPr/>
              <a:tblGrid>
                <a:gridCol w="1981200"/>
                <a:gridCol w="2773680"/>
                <a:gridCol w="1849120"/>
              </a:tblGrid>
              <a:tr h="506730"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检查项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6424B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结果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6424B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处理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6424B"/>
                    </a:solidFill>
                  </a:tcPr>
                </a:tc>
              </a:tr>
              <a:tr h="432054"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时间戳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升序、无重复、间隔恒为 10 分钟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无需插补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</a:tr>
              <a:tr h="432054"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缺失 / 重复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缺失单元格 0，完全重复行 0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无需处理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</a:tr>
              <a:tr h="432054"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列名规范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Zone 2/3 列名含连续空格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统一规整列名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</a:tr>
              <a:tr h="432054"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数据类型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负荷与天气字段均为 float64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类型校验通过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</a:tr>
              <a:tr h="432054"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异常值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3×IQR 标记集中于固定时段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FFFFFF"/>
                          </a:solidFill>
                          <a:highlight>
                            <a:srgbClr val="C0562F"/>
                          </a:highlight>
                          <a:latin typeface="Times New Roman"/>
                          <a:ea typeface="Times New Roman"/>
                        </a:rPr>
                        <a:t> 只标记、不删除 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6" name="code-label"/>
          <p:cNvSpPr txBox="1"/>
          <p:nvPr/>
        </p:nvSpPr>
        <p:spPr>
          <a:xfrm>
            <a:off x="7493000" y="2413000"/>
            <a:ext cx="4191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300" noProof="1" b="1">
                <a:solidFill>
                  <a:srgbClr val="232A30"/>
                </a:solidFill>
                <a:latin typeface="MiSans"/>
                <a:ea typeface="MiSans"/>
              </a:rPr>
              <a:t>清洗关键代码</a:t>
            </a:r>
            <a:endParaRPr lang="en-US" sz="1300" noProof="1"/>
          </a:p>
        </p:txBody>
      </p:sp>
      <p:sp>
        <p:nvSpPr>
          <p:cNvPr id="17" name="code-bg"/>
          <p:cNvSpPr/>
          <p:nvPr/>
        </p:nvSpPr>
        <p:spPr>
          <a:xfrm>
            <a:off x="7493000" y="2717800"/>
            <a:ext cx="4191000" cy="1905000"/>
          </a:xfrm>
          <a:prstGeom prst="rect">
            <a:avLst/>
          </a:prstGeom>
          <a:solidFill>
            <a:srgbClr val="232A30"/>
          </a:solidFill>
          <a:ln>
            <a:noFill/>
          </a:ln>
        </p:spPr>
      </p:sp>
      <p:sp>
        <p:nvSpPr>
          <p:cNvPr id="18" name="code-text"/>
          <p:cNvSpPr txBox="1"/>
          <p:nvPr/>
        </p:nvSpPr>
        <p:spPr>
          <a:xfrm>
            <a:off x="7670800" y="2844800"/>
            <a:ext cx="3860800" cy="165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0000"/>
              </a:lnSpc>
            </a:pPr>
            <a:r>
              <a:rPr lang="en-US" sz="1050" noProof="1">
                <a:solidFill>
                  <a:srgbClr val="DDE3E6"/>
                </a:solidFill>
                <a:latin typeface="Consolas"/>
                <a:ea typeface="Consolas"/>
              </a:rPr>
              <a:t>df.columns = df.columns.str.strip()</a:t>
            </a:r>
            <a:endParaRPr lang="en-US" sz="1050" noProof="1"/>
          </a:p>
          <a:p>
            <a:pPr>
              <a:lnSpc>
                <a:spcPct val="140000"/>
              </a:lnSpc>
            </a:pPr>
            <a:r>
              <a:rPr lang="en-US" sz="1050" noProof="1">
                <a:solidFill>
                  <a:srgbClr val="DDE3E6"/>
                </a:solidFill>
                <a:latin typeface="Consolas"/>
                <a:ea typeface="Consolas"/>
              </a:rPr>
              <a:t>.str.replace(r"\s+", " ")</a:t>
            </a:r>
            <a:endParaRPr lang="en-US" sz="1050" noProof="1"/>
          </a:p>
          <a:p>
            <a:pPr>
              <a:lnSpc>
                <a:spcPct val="140000"/>
              </a:lnSpc>
            </a:pPr>
            <a:r>
              <a:rPr lang="en-US" sz="1050" noProof="1">
                <a:solidFill>
                  <a:srgbClr val="DDE3E6"/>
                </a:solidFill>
                <a:latin typeface="Consolas"/>
                <a:ea typeface="Consolas"/>
              </a:rPr>
              <a:t>df["DateTime"] = pd.to_datetime(</a:t>
            </a:r>
            <a:endParaRPr lang="en-US" sz="1050" noProof="1"/>
          </a:p>
          <a:p>
            <a:pPr>
              <a:lnSpc>
                <a:spcPct val="140000"/>
              </a:lnSpc>
            </a:pPr>
            <a:r>
              <a:rPr lang="en-US" sz="1050" noProof="1">
                <a:solidFill>
                  <a:srgbClr val="DDE3E6"/>
                </a:solidFill>
                <a:latin typeface="Consolas"/>
                <a:ea typeface="Consolas"/>
              </a:rPr>
              <a:t>df["DateTime"], format="%m/%d/%Y %H:%M")</a:t>
            </a:r>
            <a:endParaRPr lang="en-US" sz="1050" noProof="1"/>
          </a:p>
          <a:p>
            <a:pPr>
              <a:lnSpc>
                <a:spcPct val="140000"/>
              </a:lnSpc>
            </a:pPr>
            <a:r>
              <a:rPr lang="en-US" sz="1050" noProof="1">
                <a:solidFill>
                  <a:srgbClr val="DDE3E6"/>
                </a:solidFill>
                <a:latin typeface="Consolas"/>
                <a:ea typeface="Consolas"/>
              </a:rPr>
              <a:t>assert df["DateTime"].is_monotonic_increasing</a:t>
            </a:r>
            <a:endParaRPr lang="en-US" sz="1050" noProof="1"/>
          </a:p>
          <a:p>
            <a:pPr>
              <a:lnSpc>
                <a:spcPct val="140000"/>
              </a:lnSpc>
            </a:pPr>
            <a:r>
              <a:rPr lang="en-US" sz="1050" noProof="1">
                <a:solidFill>
                  <a:srgbClr val="DDE3E6"/>
                </a:solidFill>
                <a:latin typeface="Consolas"/>
                <a:ea typeface="Consolas"/>
              </a:rPr>
              <a:t>assert df["DateTime"].diff().dropna()</a:t>
            </a:r>
            <a:endParaRPr lang="en-US" sz="1050" noProof="1"/>
          </a:p>
          <a:p>
            <a:pPr>
              <a:lnSpc>
                <a:spcPct val="140000"/>
              </a:lnSpc>
            </a:pPr>
            <a:r>
              <a:rPr lang="en-US" sz="1050" noProof="1">
                <a:solidFill>
                  <a:srgbClr val="DDE3E6"/>
                </a:solidFill>
                <a:latin typeface="Consolas"/>
                <a:ea typeface="Consolas"/>
              </a:rPr>
              <a:t>.eq(pd.Timedelta(minutes=10)).all()</a:t>
            </a:r>
            <a:endParaRPr lang="en-US" sz="1050" noProof="1"/>
          </a:p>
        </p:txBody>
      </p:sp>
      <p:sp>
        <p:nvSpPr>
          <p:cNvPr id="19" name="audit-note"/>
          <p:cNvSpPr txBox="1"/>
          <p:nvPr/>
        </p:nvSpPr>
        <p:spPr>
          <a:xfrm>
            <a:off x="7493000" y="4775200"/>
            <a:ext cx="41910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0000"/>
              </a:lnSpc>
            </a:pPr>
            <a:r>
              <a:rPr lang="en-US" sz="1150" noProof="1">
                <a:solidFill>
                  <a:srgbClr val="6E767C"/>
                </a:solidFill>
                <a:latin typeface="MiSans"/>
                <a:ea typeface="MiSans"/>
              </a:rPr>
              <a:t>区域 3 有 </a:t>
            </a:r>
            <a:r>
              <a:rPr lang="en-US" sz="1150" noProof="1" b="1">
                <a:solidFill>
                  <a:srgbClr val="C0562F"/>
                </a:solidFill>
                <a:latin typeface="MiSans"/>
                <a:ea typeface="MiSans"/>
              </a:rPr>
              <a:t>18 个点</a:t>
            </a:r>
            <a:r>
              <a:rPr lang="en-US" sz="1150" noProof="1">
                <a:solidFill>
                  <a:srgbClr val="6E767C"/>
                </a:solidFill>
                <a:latin typeface="MiSans"/>
                <a:ea typeface="MiSans"/>
              </a:rPr>
              <a:t>超出 3×IQR，全部落在 </a:t>
            </a:r>
            <a:r>
              <a:rPr lang="en-US" sz="1150" noProof="1" b="1">
                <a:solidFill>
                  <a:srgbClr val="6E767C"/>
                </a:solidFill>
                <a:latin typeface="MiSans"/>
                <a:ea typeface="MiSans"/>
              </a:rPr>
              <a:t>7 月 19–20 时</a:t>
            </a:r>
            <a:r>
              <a:rPr lang="en-US" sz="1150" noProof="1">
                <a:solidFill>
                  <a:srgbClr val="6E767C"/>
                </a:solidFill>
                <a:latin typeface="MiSans"/>
                <a:ea typeface="MiSans"/>
              </a:rPr>
              <a:t>——属夏季晚高峰的真实用电行为而非录入错误，故保留原值。</a:t>
            </a:r>
            <a:endParaRPr lang="en-US" sz="1150" noProof="1"/>
          </a:p>
        </p:txBody>
      </p:sp>
      <p:sp>
        <p:nvSpPr>
          <p:cNvPr id="20" name="split-note"/>
          <p:cNvSpPr txBox="1"/>
          <p:nvPr/>
        </p:nvSpPr>
        <p:spPr>
          <a:xfrm>
            <a:off x="508000" y="5588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0000"/>
              </a:lnSpc>
            </a:pPr>
            <a:r>
              <a:rPr lang="en-US" sz="1200" noProof="1" b="1">
                <a:solidFill>
                  <a:srgbClr val="C0562F"/>
                </a:solidFill>
                <a:latin typeface="MiSans"/>
                <a:ea typeface="MiSans"/>
              </a:rPr>
              <a:t>对建模的意义：</a:t>
            </a:r>
            <a:r>
              <a:rPr lang="en-US" sz="1200" noProof="1">
                <a:solidFill>
                  <a:srgbClr val="232A30"/>
                </a:solidFill>
                <a:latin typeface="MiSans"/>
                <a:ea typeface="MiSans"/>
              </a:rPr>
              <a:t>时间戳连续无缺口，支持把"提前 1 小时预测"严格定义为 </a:t>
            </a:r>
            <a:r>
              <a:rPr lang="en-US" sz="1200" noProof="1">
                <a:solidFill>
                  <a:srgbClr val="FFFFFF"/>
                </a:solidFill>
                <a:highlight>
                  <a:srgbClr val="C0562F"/>
                </a:highlight>
                <a:latin typeface="MiSans"/>
                <a:ea typeface="MiSans"/>
              </a:rPr>
              <a:t> y(t+6)（6 个 10 分钟步长）</a:t>
            </a:r>
            <a:r>
              <a:rPr lang="en-US" sz="1200" noProof="1">
                <a:solidFill>
                  <a:srgbClr val="232A30"/>
                </a:solidFill>
                <a:latin typeface="MiSans"/>
                <a:ea typeface="MiSans"/>
              </a:rPr>
              <a:t>；全年 364 天数据按时间顺序可切出训练 / 验证 / 测试三个互不重叠的子集。</a:t>
            </a:r>
            <a:endParaRPr lang="en-US" sz="1200" noProof="1"/>
          </a:p>
        </p:txBody>
      </p:sp>
      <p:sp>
        <p:nvSpPr>
          <p:cNvPr id="21" name="foot-line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8D4CB"/>
          </a:solidFill>
          <a:ln>
            <a:noFill/>
          </a:ln>
        </p:spPr>
      </p:sp>
      <p:sp>
        <p:nvSpPr>
          <p:cNvPr id="22" name="foot"/>
          <p:cNvSpPr txBox="1"/>
          <p:nvPr/>
        </p:nvSpPr>
        <p:spPr>
          <a:xfrm>
            <a:off x="508000" y="6502400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E767C"/>
                </a:solidFill>
                <a:latin typeface="MiSans"/>
                <a:ea typeface="MiSans"/>
              </a:rPr>
              <a:t>数据来源：课程下发数据（题4_城市电力负荷.csv）；审计明细见 docs/data_audit.md</a:t>
            </a:r>
            <a:endParaRPr lang="en-US" sz="1000" noProof="1"/>
          </a:p>
        </p:txBody>
      </p:sp>
      <p:sp>
        <p:nvSpPr>
          <p:cNvPr id="23" name="page-num"/>
          <p:cNvSpPr txBox="1"/>
          <p:nvPr/>
        </p:nvSpPr>
        <p:spPr>
          <a:xfrm>
            <a:off x="11176000" y="6502400"/>
            <a:ext cx="508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E767C"/>
                </a:solidFill>
                <a:latin typeface="MiSans"/>
                <a:ea typeface="MiSans"/>
              </a:rPr>
              <a:t>3 / 9</a:t>
            </a:r>
            <a:endParaRPr lang="en-US" sz="1000" noProof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-bar"/>
          <p:cNvSpPr/>
          <p:nvPr/>
        </p:nvSpPr>
        <p:spPr>
          <a:xfrm>
            <a:off x="508000" y="431800"/>
            <a:ext cx="76200" cy="330200"/>
          </a:xfrm>
          <a:prstGeom prst="rect">
            <a:avLst/>
          </a:prstGeom>
          <a:solidFill>
            <a:srgbClr val="C0562F"/>
          </a:solidFill>
          <a:ln>
            <a:noFill/>
          </a:ln>
        </p:spPr>
      </p:sp>
      <p:sp>
        <p:nvSpPr>
          <p:cNvPr id="3" name="hdr-title"/>
          <p:cNvSpPr txBox="1"/>
          <p:nvPr/>
        </p:nvSpPr>
        <p:spPr>
          <a:xfrm>
            <a:off x="711200" y="406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2600" noProof="1" b="1">
                <a:solidFill>
                  <a:srgbClr val="232A30"/>
                </a:solidFill>
                <a:latin typeface="MiSans"/>
                <a:ea typeface="MiSans"/>
              </a:rPr>
              <a:t>探索性数据分析：负荷的周期规律</a:t>
            </a:r>
            <a:endParaRPr lang="en-US" sz="2600" noProof="1"/>
          </a:p>
        </p:txBody>
      </p:sp>
      <p:sp>
        <p:nvSpPr>
          <p:cNvPr id="4" name="hdr-tag"/>
          <p:cNvSpPr txBox="1"/>
          <p:nvPr/>
        </p:nvSpPr>
        <p:spPr>
          <a:xfrm>
            <a:off x="9906000" y="482600"/>
            <a:ext cx="1778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E767C"/>
                </a:solidFill>
                <a:latin typeface="MiSans"/>
                <a:ea typeface="MiSans"/>
              </a:rPr>
              <a:t>03 · 数据探索</a:t>
            </a:r>
            <a:endParaRPr lang="en-US" sz="1100" noProof="1"/>
          </a:p>
        </p:txBody>
      </p:sp>
      <p:sp>
        <p:nvSpPr>
          <p:cNvPr id="5" name="hdr-line"/>
          <p:cNvSpPr/>
          <p:nvPr/>
        </p:nvSpPr>
        <p:spPr>
          <a:xfrm>
            <a:off x="508000" y="889000"/>
            <a:ext cx="11176000" cy="12700"/>
          </a:xfrm>
          <a:prstGeom prst="rect">
            <a:avLst/>
          </a:prstGeom>
          <a:solidFill>
            <a:srgbClr val="D8D4CB"/>
          </a:solidFill>
          <a:ln>
            <a:noFill/>
          </a:ln>
        </p:spPr>
      </p:sp>
      <p:pic>
        <p:nvPicPr>
          <p:cNvPr id="6" name="fig2-img"/>
          <p:cNvPicPr/>
          <p:nvPr/>
        </p:nvPicPr>
        <p:blipFill>
          <a:blip r:embed="rId2"/>
          <a:srcRect t="-54" b="-54"/>
          <a:stretch>
            <a:fillRect/>
          </a:stretch>
        </p:blipFill>
        <p:spPr>
          <a:xfrm>
            <a:off x="508000" y="1117600"/>
            <a:ext cx="7112000" cy="2197100"/>
          </a:xfrm>
          <a:prstGeom prst="rect">
            <a:avLst/>
          </a:prstGeom>
          <a:ln>
            <a:noFill/>
          </a:ln>
        </p:spPr>
      </p:pic>
      <p:sp>
        <p:nvSpPr>
          <p:cNvPr id="7" name="fig2-cap"/>
          <p:cNvSpPr txBox="1"/>
          <p:nvPr/>
        </p:nvSpPr>
        <p:spPr>
          <a:xfrm>
            <a:off x="508000" y="3352800"/>
            <a:ext cx="7112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E767C"/>
                </a:solidFill>
                <a:latin typeface="MiSans"/>
                <a:ea typeface="MiSans"/>
              </a:rPr>
              <a:t>图 1　日内负荷曲线（工作日实线 / 周末虚线）：三区共享"凌晨谷 — 午间平台 — 20 时峰"结构</a:t>
            </a:r>
            <a:endParaRPr lang="en-US" sz="1000" noProof="1"/>
          </a:p>
        </p:txBody>
      </p:sp>
      <p:pic>
        <p:nvPicPr>
          <p:cNvPr id="8" name="fig5-img"/>
          <p:cNvPicPr/>
          <p:nvPr/>
        </p:nvPicPr>
        <p:blipFill>
          <a:blip r:embed="rId3"/>
          <a:srcRect t="-2" b="-2"/>
          <a:stretch>
            <a:fillRect/>
          </a:stretch>
        </p:blipFill>
        <p:spPr>
          <a:xfrm>
            <a:off x="7874000" y="1117600"/>
            <a:ext cx="3810000" cy="3352800"/>
          </a:xfrm>
          <a:prstGeom prst="rect">
            <a:avLst/>
          </a:prstGeom>
          <a:ln>
            <a:noFill/>
          </a:ln>
        </p:spPr>
      </p:pic>
      <p:sp>
        <p:nvSpPr>
          <p:cNvPr id="9" name="fig5-cap"/>
          <p:cNvSpPr txBox="1"/>
          <p:nvPr/>
        </p:nvSpPr>
        <p:spPr>
          <a:xfrm>
            <a:off x="7874000" y="44958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E767C"/>
                </a:solidFill>
                <a:latin typeface="MiSans"/>
                <a:ea typeface="MiSans"/>
              </a:rPr>
              <a:t>图 2　天气因子与三区域负荷的 Pearson 相关系数</a:t>
            </a:r>
            <a:endParaRPr lang="en-US" sz="1000" noProof="1"/>
          </a:p>
        </p:txBody>
      </p:sp>
      <p:graphicFrame>
        <p:nvGraphicFramePr>
          <p:cNvPr id="10" name="eda-summary-table"/>
          <p:cNvGraphicFramePr>
            <a:graphicFrameLocks noGrp="1"/>
          </p:cNvGraphicFramePr>
          <p:nvPr/>
        </p:nvGraphicFramePr>
        <p:xfrm>
          <a:off x="508000" y="3708400"/>
          <a:ext cx="7112000" cy="1625600"/>
        </p:xfrm>
        <a:graphic>
          <a:graphicData uri="http://schemas.openxmlformats.org/drawingml/2006/table">
            <a:tbl>
              <a:tblPr/>
              <a:tblGrid>
                <a:gridCol w="1991360"/>
                <a:gridCol w="1706880"/>
                <a:gridCol w="1706880"/>
                <a:gridCol w="1706880"/>
              </a:tblGrid>
              <a:tr h="406400"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指标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6424B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区域 1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6424B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区域 2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6424B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区域 3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6424B"/>
                    </a:solidFill>
                  </a:tcPr>
                </a:tc>
              </a:tr>
              <a:tr h="406400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全年日均负荷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32,345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21,043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17,835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</a:tr>
              <a:tr h="406400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峰谷比（20 时 / 6 时）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1.89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1.89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 b="1">
                          <a:solidFill>
                            <a:srgbClr val="C0562F"/>
                          </a:solidFill>
                          <a:latin typeface="Times New Roman"/>
                          <a:ea typeface="Times New Roman"/>
                        </a:rPr>
                        <a:t>2.23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</a:tr>
              <a:tr h="406400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夏冬比 · 日峰值变异系数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1.17 · 7.4%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1.12 · 12.5%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 b="1">
                          <a:solidFill>
                            <a:srgbClr val="C0562F"/>
                          </a:solidFill>
                          <a:latin typeface="Times New Roman"/>
                          <a:ea typeface="Times New Roman"/>
                        </a:rPr>
                        <a:t>1.59 · 27.7%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eda-summary-cap"/>
          <p:cNvSpPr txBox="1"/>
          <p:nvPr/>
        </p:nvSpPr>
        <p:spPr>
          <a:xfrm>
            <a:off x="508000" y="5384800"/>
            <a:ext cx="7112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E767C"/>
                </a:solidFill>
                <a:latin typeface="MiSans"/>
                <a:ea typeface="MiSans"/>
              </a:rPr>
              <a:t>表 1　三区域负荷特征汇总：量级、日内波动与季节敏感度差异显著</a:t>
            </a:r>
            <a:endParaRPr lang="en-US" sz="1000" noProof="1"/>
          </a:p>
        </p:txBody>
      </p:sp>
      <p:sp>
        <p:nvSpPr>
          <p:cNvPr id="12" name="eda-findings"/>
          <p:cNvSpPr txBox="1"/>
          <p:nvPr/>
        </p:nvSpPr>
        <p:spPr>
          <a:xfrm>
            <a:off x="508000" y="5689600"/>
            <a:ext cx="11176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0000"/>
              </a:lnSpc>
            </a:pPr>
            <a:r>
              <a:rPr lang="en-US" sz="1200" noProof="1" b="1">
                <a:solidFill>
                  <a:srgbClr val="C0562F"/>
                </a:solidFill>
                <a:latin typeface="MiSans"/>
                <a:ea typeface="MiSans"/>
              </a:rPr>
              <a:t>对建模的意义：</a:t>
            </a:r>
            <a:r>
              <a:rPr lang="en-US" sz="1200" noProof="1">
                <a:solidFill>
                  <a:srgbClr val="232A30"/>
                </a:solidFill>
                <a:latin typeface="MiSans"/>
                <a:ea typeface="MiSans"/>
              </a:rPr>
              <a:t>三个区域 </a:t>
            </a:r>
            <a:r>
              <a:rPr lang="en-US" sz="1200" noProof="1" b="1">
                <a:solidFill>
                  <a:srgbClr val="C0562F"/>
                </a:solidFill>
                <a:latin typeface="MiSans"/>
                <a:ea typeface="MiSans"/>
              </a:rPr>
              <a:t>97%</a:t>
            </a:r>
            <a:r>
              <a:rPr lang="en-US" sz="1200" noProof="1">
                <a:solidFill>
                  <a:srgbClr val="232A30"/>
                </a:solidFill>
                <a:latin typeface="MiSans"/>
                <a:ea typeface="MiSans"/>
              </a:rPr>
              <a:t> 以上的日子峰值落在 18–21 时——</a:t>
            </a:r>
            <a:r>
              <a:rPr lang="en-US" sz="1200" noProof="1">
                <a:solidFill>
                  <a:srgbClr val="FFFFFF"/>
                </a:solidFill>
                <a:highlight>
                  <a:srgbClr val="C0562F"/>
                </a:highlight>
                <a:latin typeface="MiSans"/>
                <a:ea typeface="MiSans"/>
              </a:rPr>
              <a:t> 滞后 24h / 168h（一周）的历史同期特征有稳定依据 </a:t>
            </a:r>
            <a:r>
              <a:rPr lang="en-US" sz="1200" noProof="1">
                <a:solidFill>
                  <a:srgbClr val="232A30"/>
                </a:solidFill>
                <a:latin typeface="MiSans"/>
                <a:ea typeface="MiSans"/>
              </a:rPr>
              <a:t>；温度与负荷强相关（区域 3 最敏感），支撑天气特征入模；区域 3 日峰值变异系数 </a:t>
            </a:r>
            <a:r>
              <a:rPr lang="en-US" sz="1200" noProof="1" b="1">
                <a:solidFill>
                  <a:srgbClr val="C0562F"/>
                </a:solidFill>
                <a:latin typeface="MiSans"/>
                <a:ea typeface="MiSans"/>
              </a:rPr>
              <a:t>27.7%</a:t>
            </a:r>
            <a:r>
              <a:rPr lang="en-US" sz="1200" noProof="1">
                <a:solidFill>
                  <a:srgbClr val="232A30"/>
                </a:solidFill>
                <a:latin typeface="MiSans"/>
                <a:ea typeface="MiSans"/>
              </a:rPr>
              <a:t>，预示其最难预测。</a:t>
            </a:r>
            <a:endParaRPr lang="en-US" sz="1200" noProof="1"/>
          </a:p>
        </p:txBody>
      </p:sp>
      <p:sp>
        <p:nvSpPr>
          <p:cNvPr id="13" name="corr-note"/>
          <p:cNvSpPr txBox="1"/>
          <p:nvPr/>
        </p:nvSpPr>
        <p:spPr>
          <a:xfrm>
            <a:off x="7874000" y="4978400"/>
            <a:ext cx="3810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35000"/>
              </a:lnSpc>
            </a:pPr>
            <a:r>
              <a:rPr lang="en-US" sz="1150" noProof="1">
                <a:solidFill>
                  <a:srgbClr val="6E767C"/>
                </a:solidFill>
                <a:latin typeface="MiSans"/>
                <a:ea typeface="MiSans"/>
              </a:rPr>
              <a:t>温度与负荷正相关（夏季制冷负荷）；区域 3 相关性最强，与其夏冬比 1.59 相互印证。</a:t>
            </a:r>
            <a:endParaRPr lang="en-US" sz="1150" noProof="1"/>
          </a:p>
        </p:txBody>
      </p:sp>
      <p:sp>
        <p:nvSpPr>
          <p:cNvPr id="14" name="foot-line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8D4CB"/>
          </a:solidFill>
          <a:ln>
            <a:noFill/>
          </a:ln>
        </p:spPr>
      </p:sp>
      <p:sp>
        <p:nvSpPr>
          <p:cNvPr id="15" name="foot"/>
          <p:cNvSpPr txBox="1"/>
          <p:nvPr/>
        </p:nvSpPr>
        <p:spPr>
          <a:xfrm>
            <a:off x="508000" y="6502400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E767C"/>
                </a:solidFill>
                <a:latin typeface="MiSans"/>
                <a:ea typeface="MiSans"/>
              </a:rPr>
              <a:t>统计范围：2017-01-01 至 2017-12-30，52,416 条 10 分钟观测；明细见 outputs/metrics/eda_*.csv</a:t>
            </a:r>
            <a:endParaRPr lang="en-US" sz="1000" noProof="1"/>
          </a:p>
        </p:txBody>
      </p:sp>
      <p:sp>
        <p:nvSpPr>
          <p:cNvPr id="16" name="page-num"/>
          <p:cNvSpPr txBox="1"/>
          <p:nvPr/>
        </p:nvSpPr>
        <p:spPr>
          <a:xfrm>
            <a:off x="11176000" y="6502400"/>
            <a:ext cx="508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E767C"/>
                </a:solidFill>
                <a:latin typeface="MiSans"/>
                <a:ea typeface="MiSans"/>
              </a:rPr>
              <a:t>4 / 9</a:t>
            </a:r>
            <a:endParaRPr lang="en-US" sz="1000" noProof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-bar"/>
          <p:cNvSpPr/>
          <p:nvPr/>
        </p:nvSpPr>
        <p:spPr>
          <a:xfrm>
            <a:off x="508000" y="431800"/>
            <a:ext cx="76200" cy="330200"/>
          </a:xfrm>
          <a:prstGeom prst="rect">
            <a:avLst/>
          </a:prstGeom>
          <a:solidFill>
            <a:srgbClr val="C0562F"/>
          </a:solidFill>
          <a:ln>
            <a:noFill/>
          </a:ln>
        </p:spPr>
      </p:sp>
      <p:sp>
        <p:nvSpPr>
          <p:cNvPr id="3" name="hdr-title"/>
          <p:cNvSpPr txBox="1"/>
          <p:nvPr/>
        </p:nvSpPr>
        <p:spPr>
          <a:xfrm>
            <a:off x="711200" y="406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2600" noProof="1" b="1">
                <a:solidFill>
                  <a:srgbClr val="232A30"/>
                </a:solidFill>
                <a:latin typeface="MiSans"/>
                <a:ea typeface="MiSans"/>
              </a:rPr>
              <a:t>预测方案与初始模型比较</a:t>
            </a:r>
            <a:endParaRPr lang="en-US" sz="2600" noProof="1"/>
          </a:p>
        </p:txBody>
      </p:sp>
      <p:sp>
        <p:nvSpPr>
          <p:cNvPr id="4" name="hdr-tag"/>
          <p:cNvSpPr txBox="1"/>
          <p:nvPr/>
        </p:nvSpPr>
        <p:spPr>
          <a:xfrm>
            <a:off x="9906000" y="482600"/>
            <a:ext cx="1778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E767C"/>
                </a:solidFill>
                <a:latin typeface="MiSans"/>
                <a:ea typeface="MiSans"/>
              </a:rPr>
              <a:t>04 · 建模方案</a:t>
            </a:r>
            <a:endParaRPr lang="en-US" sz="1100" noProof="1"/>
          </a:p>
        </p:txBody>
      </p:sp>
      <p:sp>
        <p:nvSpPr>
          <p:cNvPr id="5" name="hdr-line"/>
          <p:cNvSpPr/>
          <p:nvPr/>
        </p:nvSpPr>
        <p:spPr>
          <a:xfrm>
            <a:off x="508000" y="889000"/>
            <a:ext cx="11176000" cy="12700"/>
          </a:xfrm>
          <a:prstGeom prst="rect">
            <a:avLst/>
          </a:prstGeom>
          <a:solidFill>
            <a:srgbClr val="D8D4CB"/>
          </a:solidFill>
          <a:ln>
            <a:noFill/>
          </a:ln>
        </p:spPr>
      </p:sp>
      <p:sp>
        <p:nvSpPr>
          <p:cNvPr id="6" name="setup-text"/>
          <p:cNvSpPr txBox="1"/>
          <p:nvPr/>
        </p:nvSpPr>
        <p:spPr>
          <a:xfrm>
            <a:off x="508000" y="1117600"/>
            <a:ext cx="4826000" cy="2133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5000"/>
              </a:lnSpc>
            </a:pPr>
            <a:r>
              <a:rPr lang="en-US" sz="1300" noProof="1" b="1">
                <a:solidFill>
                  <a:srgbClr val="232A30"/>
                </a:solidFill>
                <a:latin typeface="MiSans"/>
                <a:ea typeface="MiSans"/>
              </a:rPr>
              <a:t>预测目标</a:t>
            </a:r>
            <a:r>
              <a:rPr lang="en-US" sz="1300" noProof="1">
                <a:solidFill>
                  <a:srgbClr val="232A30"/>
                </a:solidFill>
                <a:latin typeface="MiSans"/>
                <a:ea typeface="MiSans"/>
              </a:rPr>
              <a:t>　</a:t>
            </a:r>
            <a:r>
              <a:rPr lang="en-US" sz="1300" noProof="1" b="1">
                <a:solidFill>
                  <a:srgbClr val="C0562F"/>
                </a:solidFill>
                <a:latin typeface="MiSans"/>
                <a:ea typeface="MiSans"/>
              </a:rPr>
              <a:t>y(t+6)</a:t>
            </a:r>
            <a:r>
              <a:rPr lang="en-US" sz="1300" noProof="1">
                <a:solidFill>
                  <a:srgbClr val="232A30"/>
                </a:solidFill>
                <a:latin typeface="MiSans"/>
                <a:ea typeface="MiSans"/>
              </a:rPr>
              <a:t>：预测起点 t 之后 1 小时的负荷</a:t>
            </a:r>
            <a:endParaRPr lang="en-US" sz="1300" noProof="1"/>
          </a:p>
          <a:p>
            <a:pPr>
              <a:lnSpc>
                <a:spcPct val="145000"/>
              </a:lnSpc>
              <a:spcBef>
                <a:spcPts val="600"/>
              </a:spcBef>
            </a:pPr>
            <a:r>
              <a:rPr lang="en-US" sz="1300" noProof="1" b="1">
                <a:solidFill>
                  <a:srgbClr val="232A30"/>
                </a:solidFill>
                <a:latin typeface="MiSans"/>
                <a:ea typeface="MiSans"/>
              </a:rPr>
              <a:t>数据切分</a:t>
            </a:r>
            <a:r>
              <a:rPr lang="en-US" sz="1300" noProof="1">
                <a:solidFill>
                  <a:srgbClr val="232A30"/>
                </a:solidFill>
                <a:latin typeface="MiSans"/>
                <a:ea typeface="MiSans"/>
              </a:rPr>
              <a:t>　按时间顺序：训练 70% / 验证 15% / 测试 15%（测试期 11 月 7 日—12 月 30 日），子集边界各剔除 6 个起点防泄漏</a:t>
            </a:r>
            <a:endParaRPr lang="en-US" sz="1300" noProof="1"/>
          </a:p>
          <a:p>
            <a:pPr>
              <a:lnSpc>
                <a:spcPct val="145000"/>
              </a:lnSpc>
              <a:spcBef>
                <a:spcPts val="600"/>
              </a:spcBef>
            </a:pPr>
            <a:r>
              <a:rPr lang="en-US" sz="1300" noProof="1" b="1">
                <a:solidFill>
                  <a:srgbClr val="232A30"/>
                </a:solidFill>
                <a:latin typeface="MiSans"/>
                <a:ea typeface="MiSans"/>
              </a:rPr>
              <a:t>三个模型</a:t>
            </a:r>
            <a:endParaRPr lang="en-US" sz="1300" noProof="1"/>
          </a:p>
          <a:p>
            <a:pPr>
              <a:lnSpc>
                <a:spcPct val="145000"/>
              </a:lnSpc>
            </a:pPr>
            <a:r>
              <a:rPr lang="en-US" sz="1300" noProof="1">
                <a:solidFill>
                  <a:srgbClr val="232A30"/>
                </a:solidFill>
                <a:latin typeface="MiSans"/>
                <a:ea typeface="MiSans"/>
              </a:rPr>
              <a:t>· 历史同期基线　ŷ(t+6) = y(t−1002)</a:t>
            </a:r>
            <a:endParaRPr lang="en-US" sz="1300" noProof="1"/>
          </a:p>
          <a:p>
            <a:pPr>
              <a:lnSpc>
                <a:spcPct val="145000"/>
              </a:lnSpc>
            </a:pPr>
            <a:r>
              <a:rPr lang="en-US" sz="1300" noProof="1">
                <a:solidFill>
                  <a:srgbClr val="232A30"/>
                </a:solidFill>
                <a:latin typeface="MiSans"/>
                <a:ea typeface="MiSans"/>
              </a:rPr>
              <a:t>· 线性回归 LR（14 个时间 / 滞后 / 天气特征）</a:t>
            </a:r>
            <a:endParaRPr lang="en-US" sz="1300" noProof="1"/>
          </a:p>
          <a:p>
            <a:pPr>
              <a:lnSpc>
                <a:spcPct val="145000"/>
              </a:lnSpc>
            </a:pPr>
            <a:r>
              <a:rPr lang="en-US" sz="1300" noProof="1">
                <a:solidFill>
                  <a:srgbClr val="232A30"/>
                </a:solidFill>
                <a:latin typeface="MiSans"/>
                <a:ea typeface="MiSans"/>
              </a:rPr>
              <a:t>· 梯度提升树 GBT（HistGradientBoosting）</a:t>
            </a:r>
            <a:endParaRPr lang="en-US" sz="1300" noProof="1"/>
          </a:p>
        </p:txBody>
      </p:sp>
      <p:sp>
        <p:nvSpPr>
          <p:cNvPr id="7" name="metric-note"/>
          <p:cNvSpPr txBox="1"/>
          <p:nvPr/>
        </p:nvSpPr>
        <p:spPr>
          <a:xfrm>
            <a:off x="508000" y="33274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0000"/>
              </a:lnSpc>
            </a:pPr>
            <a:r>
              <a:rPr lang="en-US" sz="1200" noProof="1" b="1">
                <a:solidFill>
                  <a:srgbClr val="6E767C"/>
                </a:solidFill>
                <a:latin typeface="MiSans"/>
                <a:ea typeface="MiSans"/>
              </a:rPr>
              <a:t>评价指标</a:t>
            </a:r>
            <a:r>
              <a:rPr lang="en-US" sz="1200" noProof="1">
                <a:solidFill>
                  <a:srgbClr val="6E767C"/>
                </a:solidFill>
                <a:latin typeface="MiSans"/>
                <a:ea typeface="MiSans"/>
              </a:rPr>
              <a:t>　MAE、RMSE、MSE；跨区域比较用 nRMSE（RMSE / 区域均值）。</a:t>
            </a:r>
            <a:endParaRPr lang="en-US" sz="1200" noProof="1"/>
          </a:p>
        </p:txBody>
      </p:sp>
      <p:graphicFrame>
        <p:nvGraphicFramePr>
          <p:cNvPr id="8" name="model-chart"/>
          <p:cNvGraphicFramePr/>
          <p:nvPr/>
        </p:nvGraphicFramePr>
        <p:xfrm>
          <a:off x="5588000" y="1117600"/>
          <a:ext cx="6096000" cy="3175000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9" name="chart-cap"/>
          <p:cNvSpPr txBox="1"/>
          <p:nvPr/>
        </p:nvSpPr>
        <p:spPr>
          <a:xfrm>
            <a:off x="5588000" y="4343400"/>
            <a:ext cx="6096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E767C"/>
                </a:solidFill>
                <a:latin typeface="MiSans"/>
                <a:ea typeface="MiSans"/>
              </a:rPr>
              <a:t>图 3　初始特征集下三模型测试集指标（三区域合并，越低越好）</a:t>
            </a:r>
            <a:endParaRPr lang="en-US" sz="1000" noProof="1"/>
          </a:p>
        </p:txBody>
      </p:sp>
      <p:sp>
        <p:nvSpPr>
          <p:cNvPr id="10" name="finding-band"/>
          <p:cNvSpPr/>
          <p:nvPr/>
        </p:nvSpPr>
        <p:spPr>
          <a:xfrm>
            <a:off x="508000" y="4724400"/>
            <a:ext cx="11176000" cy="1219200"/>
          </a:xfrm>
          <a:prstGeom prst="rect">
            <a:avLst/>
          </a:prstGeom>
          <a:solidFill>
            <a:srgbClr val="C0562F"/>
          </a:solidFill>
          <a:ln>
            <a:noFill/>
          </a:ln>
        </p:spPr>
      </p:sp>
      <p:sp>
        <p:nvSpPr>
          <p:cNvPr id="11" name="finding-text"/>
          <p:cNvSpPr txBox="1"/>
          <p:nvPr/>
        </p:nvSpPr>
        <p:spPr>
          <a:xfrm>
            <a:off x="812800" y="4851400"/>
            <a:ext cx="10566400" cy="990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50000"/>
              </a:lnSpc>
            </a:pPr>
            <a:r>
              <a:rPr lang="en-US" sz="1300" noProof="1" b="1">
                <a:solidFill>
                  <a:srgbClr val="FFFFFF"/>
                </a:solidFill>
                <a:latin typeface="MiSans"/>
                <a:ea typeface="MiSans"/>
              </a:rPr>
              <a:t>关键发现：初始特征集下，学习模型未能超越历史同期基线。</a:t>
            </a:r>
            <a:endParaRPr lang="en-US" sz="1300" noProof="1"/>
          </a:p>
          <a:p>
            <a:pPr algn="l">
              <a:lnSpc>
                <a:spcPct val="150000"/>
              </a:lnSpc>
            </a:pPr>
            <a:r>
              <a:rPr lang="en-US" sz="1300" noProof="1">
                <a:solidFill>
                  <a:srgbClr val="FFFFFF"/>
                </a:solidFill>
                <a:latin typeface="MiSans"/>
                <a:ea typeface="MiSans"/>
              </a:rPr>
              <a:t>12 个（模型 × 区域 × 指标）组合中仅 LR 在区域 3 占优；基线 MAE/RMSE </a:t>
            </a:r>
            <a:r>
              <a:rPr lang="en-US" sz="1300" noProof="1" b="1">
                <a:solidFill>
                  <a:srgbClr val="FFFFFF"/>
                </a:solidFill>
                <a:latin typeface="MiSans"/>
                <a:ea typeface="MiSans"/>
              </a:rPr>
              <a:t>1050.68 / 1643.67</a:t>
            </a:r>
            <a:r>
              <a:rPr lang="en-US" sz="1300" noProof="1">
                <a:solidFill>
                  <a:srgbClr val="FFFFFF"/>
                </a:solidFill>
                <a:latin typeface="MiSans"/>
                <a:ea typeface="MiSans"/>
              </a:rPr>
              <a:t>，LR 1493.37 / 1957.37，GBT 1554.91 / 2126.30——这一反常结果促使我们检查特征口径（见下一页）。</a:t>
            </a:r>
            <a:endParaRPr lang="en-US" sz="1300" noProof="1"/>
          </a:p>
        </p:txBody>
      </p:sp>
      <p:sp>
        <p:nvSpPr>
          <p:cNvPr id="12" name="foot-line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8D4CB"/>
          </a:solidFill>
          <a:ln>
            <a:noFill/>
          </a:ln>
        </p:spPr>
      </p:sp>
      <p:sp>
        <p:nvSpPr>
          <p:cNvPr id="13" name="foot"/>
          <p:cNvSpPr txBox="1"/>
          <p:nvPr/>
        </p:nvSpPr>
        <p:spPr>
          <a:xfrm>
            <a:off x="508000" y="6502400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E767C"/>
                </a:solidFill>
                <a:latin typeface="MiSans"/>
                <a:ea typeface="MiSans"/>
              </a:rPr>
              <a:t>测试集：2017-11-07 09:50 至 2017-12-30 22:50，每区 7,711 条；明细见 outputs/metrics/model_comparison.csv</a:t>
            </a:r>
            <a:endParaRPr lang="en-US" sz="1000" noProof="1"/>
          </a:p>
        </p:txBody>
      </p:sp>
      <p:sp>
        <p:nvSpPr>
          <p:cNvPr id="14" name="page-num"/>
          <p:cNvSpPr txBox="1"/>
          <p:nvPr/>
        </p:nvSpPr>
        <p:spPr>
          <a:xfrm>
            <a:off x="11176000" y="6502400"/>
            <a:ext cx="508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E767C"/>
                </a:solidFill>
                <a:latin typeface="MiSans"/>
                <a:ea typeface="MiSans"/>
              </a:rPr>
              <a:t>5 / 9</a:t>
            </a:r>
            <a:endParaRPr lang="en-US" sz="1000" noProof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-bar"/>
          <p:cNvSpPr/>
          <p:nvPr/>
        </p:nvSpPr>
        <p:spPr>
          <a:xfrm>
            <a:off x="508000" y="431800"/>
            <a:ext cx="76200" cy="330200"/>
          </a:xfrm>
          <a:prstGeom prst="rect">
            <a:avLst/>
          </a:prstGeom>
          <a:solidFill>
            <a:srgbClr val="C0562F"/>
          </a:solidFill>
          <a:ln>
            <a:noFill/>
          </a:ln>
        </p:spPr>
      </p:sp>
      <p:sp>
        <p:nvSpPr>
          <p:cNvPr id="3" name="hdr-title"/>
          <p:cNvSpPr txBox="1"/>
          <p:nvPr/>
        </p:nvSpPr>
        <p:spPr>
          <a:xfrm>
            <a:off x="711200" y="406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2600" noProof="1" b="1">
                <a:solidFill>
                  <a:srgbClr val="232A30"/>
                </a:solidFill>
                <a:latin typeface="MiSans"/>
                <a:ea typeface="MiSans"/>
              </a:rPr>
              <a:t>关键发现：周同期特征的 1 小时口径偏差</a:t>
            </a:r>
            <a:endParaRPr lang="en-US" sz="2600" noProof="1"/>
          </a:p>
        </p:txBody>
      </p:sp>
      <p:sp>
        <p:nvSpPr>
          <p:cNvPr id="4" name="hdr-tag"/>
          <p:cNvSpPr txBox="1"/>
          <p:nvPr/>
        </p:nvSpPr>
        <p:spPr>
          <a:xfrm>
            <a:off x="9906000" y="482600"/>
            <a:ext cx="1778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E767C"/>
                </a:solidFill>
                <a:latin typeface="MiSans"/>
                <a:ea typeface="MiSans"/>
              </a:rPr>
              <a:t>05 · 特征修正</a:t>
            </a:r>
            <a:endParaRPr lang="en-US" sz="1100" noProof="1"/>
          </a:p>
        </p:txBody>
      </p:sp>
      <p:sp>
        <p:nvSpPr>
          <p:cNvPr id="5" name="hdr-line"/>
          <p:cNvSpPr/>
          <p:nvPr/>
        </p:nvSpPr>
        <p:spPr>
          <a:xfrm>
            <a:off x="508000" y="889000"/>
            <a:ext cx="11176000" cy="12700"/>
          </a:xfrm>
          <a:prstGeom prst="rect">
            <a:avLst/>
          </a:prstGeom>
          <a:solidFill>
            <a:srgbClr val="D8D4CB"/>
          </a:solidFill>
          <a:ln>
            <a:noFill/>
          </a:ln>
        </p:spPr>
      </p:sp>
      <p:sp>
        <p:nvSpPr>
          <p:cNvPr id="6" name="diag-label"/>
          <p:cNvSpPr txBox="1"/>
          <p:nvPr/>
        </p:nvSpPr>
        <p:spPr>
          <a:xfrm>
            <a:off x="508000" y="11176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300" noProof="1" b="1">
                <a:solidFill>
                  <a:srgbClr val="232A30"/>
                </a:solidFill>
                <a:latin typeface="MiSans"/>
                <a:ea typeface="MiSans"/>
              </a:rPr>
              <a:t>时间对齐示意：基线与特征集拿到的信息不同源</a:t>
            </a:r>
            <a:endParaRPr lang="en-US" sz="1300" noProof="1"/>
          </a:p>
        </p:txBody>
      </p:sp>
      <p:sp>
        <p:nvSpPr>
          <p:cNvPr id="7" name="tl-line"/>
          <p:cNvSpPr/>
          <p:nvPr/>
        </p:nvSpPr>
        <p:spPr>
          <a:xfrm>
            <a:off x="762000" y="2286000"/>
            <a:ext cx="6350000" cy="25400"/>
          </a:xfrm>
          <a:prstGeom prst="rect">
            <a:avLst/>
          </a:prstGeom>
          <a:solidFill>
            <a:srgbClr val="6E767C"/>
          </a:solidFill>
          <a:ln>
            <a:noFill/>
          </a:ln>
        </p:spPr>
      </p:sp>
      <p:sp>
        <p:nvSpPr>
          <p:cNvPr id="8" name="tl-week"/>
          <p:cNvSpPr/>
          <p:nvPr/>
        </p:nvSpPr>
        <p:spPr>
          <a:xfrm>
            <a:off x="889000" y="2133600"/>
            <a:ext cx="177800" cy="330200"/>
          </a:xfrm>
          <a:prstGeom prst="rect">
            <a:avLst/>
          </a:prstGeom>
          <a:solidFill>
            <a:srgbClr val="2E7D74"/>
          </a:solidFill>
          <a:ln>
            <a:noFill/>
          </a:ln>
        </p:spPr>
      </p:sp>
      <p:sp>
        <p:nvSpPr>
          <p:cNvPr id="9" name="tl-week-label"/>
          <p:cNvSpPr txBox="1"/>
          <p:nvPr/>
        </p:nvSpPr>
        <p:spPr>
          <a:xfrm>
            <a:off x="508000" y="1473200"/>
            <a:ext cx="1651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b"/>
          <a:lstStyle/>
          <a:p>
            <a:pPr algn="ctr">
              <a:lnSpc>
                <a:spcPct val="125000"/>
              </a:lnSpc>
            </a:pPr>
            <a:r>
              <a:rPr lang="en-US" sz="1100" noProof="1" b="1">
                <a:solidFill>
                  <a:srgbClr val="232A30"/>
                </a:solidFill>
                <a:latin typeface="MiSans"/>
                <a:ea typeface="MiSans"/>
              </a:rPr>
              <a:t>一周前同一时刻</a:t>
            </a:r>
            <a:endParaRPr lang="en-US" sz="1100" noProof="1"/>
          </a:p>
          <a:p>
            <a:pPr algn="ctr">
              <a:lnSpc>
                <a:spcPct val="125000"/>
              </a:lnSpc>
            </a:pPr>
            <a:r>
              <a:rPr lang="en-US" sz="1100" noProof="1">
                <a:solidFill>
                  <a:srgbClr val="6E767C"/>
                </a:solidFill>
                <a:latin typeface="MiSans"/>
                <a:ea typeface="MiSans"/>
              </a:rPr>
              <a:t>t−1002（相对起点）</a:t>
            </a:r>
            <a:endParaRPr lang="en-US" sz="1100" noProof="1"/>
          </a:p>
        </p:txBody>
      </p:sp>
      <p:sp>
        <p:nvSpPr>
          <p:cNvPr id="10" name="tl-arrow-week"/>
          <p:cNvSpPr/>
          <p:nvPr>
            <p:extLst>
              <p:ext uri="{F5677B7D-0D2A-4D9B-9A5C-6D8D7D0E5A5D}">
                <pptd:line encoding="base64url">eyJ2aWV3Qm94IjpbMzMwLDYwXSwicG9pbnRzIjoiMCw2MCAxNjUsMCAzMzAsNjAiLCJjdXJ2ZSI6InNtb290aCJ9</pptd:line>
              </p:ext>
            </p:extLst>
          </p:nvPr>
        </p:nvSpPr>
        <p:spPr>
          <a:xfrm>
            <a:off x="1066800" y="2362200"/>
            <a:ext cx="4191000" cy="762000"/>
          </a:xfrm>
          <a:custGeom>
            <a:avLst/>
            <a:gdLst/>
            <a:ahLst/>
            <a:cxnLst/>
            <a:rect l="l" t="t" r="r" b="b"/>
            <a:pathLst>
              <a:path w="330" h="60">
                <a:moveTo>
                  <a:pt x="0" y="60"/>
                </a:moveTo>
                <a:quadBezTo>
                  <a:pt x="165" y="0"/>
                  <a:pt x="330" y="60"/>
                </a:quadBezTo>
              </a:path>
            </a:pathLst>
          </a:custGeom>
          <a:noFill/>
          <a:ln w="19050" cap="rnd">
            <a:solidFill>
              <a:srgbClr val="2E7D74"/>
            </a:solidFill>
            <a:prstDash val="dash"/>
            <a:round/>
          </a:ln>
        </p:spPr>
      </p:sp>
      <p:sp>
        <p:nvSpPr>
          <p:cNvPr id="11" name="tl-week-head"/>
          <p:cNvSpPr/>
          <p:nvPr/>
        </p:nvSpPr>
        <p:spPr>
          <a:xfrm rot="8100000">
            <a:off x="5181600" y="3022600"/>
            <a:ext cx="127000" cy="127000"/>
          </a:xfrm>
          <a:prstGeom prst="triangle">
            <a:avLst/>
          </a:prstGeom>
          <a:solidFill>
            <a:srgbClr val="2E7D74"/>
          </a:solidFill>
          <a:ln>
            <a:noFill/>
          </a:ln>
        </p:spPr>
      </p:sp>
      <p:sp>
        <p:nvSpPr>
          <p:cNvPr id="12" name="tl-arrow-week-label"/>
          <p:cNvSpPr txBox="1"/>
          <p:nvPr/>
        </p:nvSpPr>
        <p:spPr>
          <a:xfrm>
            <a:off x="1905000" y="23622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 b="1">
                <a:solidFill>
                  <a:srgbClr val="2E7D74"/>
                </a:solidFill>
                <a:latin typeface="MiSans"/>
                <a:ea typeface="MiSans"/>
              </a:rPr>
              <a:t>基线直接复制此值 → 指向目标时刻</a:t>
            </a:r>
            <a:endParaRPr lang="en-US" sz="1100" noProof="1"/>
          </a:p>
        </p:txBody>
      </p:sp>
      <p:sp>
        <p:nvSpPr>
          <p:cNvPr id="13" name="tl-start"/>
          <p:cNvSpPr/>
          <p:nvPr/>
        </p:nvSpPr>
        <p:spPr>
          <a:xfrm>
            <a:off x="5334000" y="2133600"/>
            <a:ext cx="177800" cy="330200"/>
          </a:xfrm>
          <a:prstGeom prst="rect">
            <a:avLst/>
          </a:prstGeom>
          <a:solidFill>
            <a:srgbClr val="16424B"/>
          </a:solidFill>
          <a:ln>
            <a:noFill/>
          </a:ln>
        </p:spPr>
      </p:sp>
      <p:sp>
        <p:nvSpPr>
          <p:cNvPr id="14" name="tl-start-label"/>
          <p:cNvSpPr txBox="1"/>
          <p:nvPr/>
        </p:nvSpPr>
        <p:spPr>
          <a:xfrm>
            <a:off x="4572000" y="2540000"/>
            <a:ext cx="1778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25000"/>
              </a:lnSpc>
            </a:pPr>
            <a:r>
              <a:rPr lang="en-US" sz="1100" noProof="1" b="1">
                <a:solidFill>
                  <a:srgbClr val="232A30"/>
                </a:solidFill>
                <a:latin typeface="MiSans"/>
                <a:ea typeface="MiSans"/>
              </a:rPr>
              <a:t>预测起点 t</a:t>
            </a:r>
            <a:endParaRPr lang="en-US" sz="1100" noProof="1"/>
          </a:p>
          <a:p>
            <a:pPr algn="ctr">
              <a:lnSpc>
                <a:spcPct val="125000"/>
              </a:lnSpc>
            </a:pPr>
            <a:r>
              <a:rPr lang="en-US" sz="1100" noProof="1">
                <a:solidFill>
                  <a:srgbClr val="6E767C"/>
                </a:solidFill>
                <a:latin typeface="MiSans"/>
                <a:ea typeface="MiSans"/>
              </a:rPr>
              <a:t>load_lag_1008 在此取值</a:t>
            </a:r>
            <a:endParaRPr lang="en-US" sz="1100" noProof="1"/>
          </a:p>
        </p:txBody>
      </p:sp>
      <p:sp>
        <p:nvSpPr>
          <p:cNvPr id="15" name="tl-target"/>
          <p:cNvSpPr/>
          <p:nvPr/>
        </p:nvSpPr>
        <p:spPr>
          <a:xfrm>
            <a:off x="6350000" y="2108200"/>
            <a:ext cx="203200" cy="381000"/>
          </a:xfrm>
          <a:prstGeom prst="rect">
            <a:avLst/>
          </a:prstGeom>
          <a:solidFill>
            <a:srgbClr val="C0562F"/>
          </a:solidFill>
          <a:ln>
            <a:noFill/>
          </a:ln>
        </p:spPr>
      </p:sp>
      <p:sp>
        <p:nvSpPr>
          <p:cNvPr id="16" name="tl-target-label"/>
          <p:cNvSpPr txBox="1"/>
          <p:nvPr/>
        </p:nvSpPr>
        <p:spPr>
          <a:xfrm>
            <a:off x="5689600" y="3022600"/>
            <a:ext cx="1651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25000"/>
              </a:lnSpc>
            </a:pPr>
            <a:r>
              <a:rPr lang="en-US" sz="1100" noProof="1" b="1">
                <a:solidFill>
                  <a:srgbClr val="232A30"/>
                </a:solidFill>
                <a:latin typeface="MiSans"/>
                <a:ea typeface="MiSans"/>
              </a:rPr>
              <a:t>目标时刻 t+6</a:t>
            </a:r>
            <a:endParaRPr lang="en-US" sz="1100" noProof="1"/>
          </a:p>
          <a:p>
            <a:pPr algn="ctr">
              <a:lnSpc>
                <a:spcPct val="125000"/>
              </a:lnSpc>
            </a:pPr>
            <a:r>
              <a:rPr lang="en-US" sz="1100" noProof="1">
                <a:solidFill>
                  <a:srgbClr val="6E767C"/>
                </a:solidFill>
                <a:latin typeface="MiSans"/>
                <a:ea typeface="MiSans"/>
              </a:rPr>
              <a:t>1 小时后</a:t>
            </a:r>
            <a:endParaRPr lang="en-US" sz="1100" noProof="1"/>
          </a:p>
        </p:txBody>
      </p:sp>
      <p:sp>
        <p:nvSpPr>
          <p:cNvPr id="17" name="tl-gap-arrow"/>
          <p:cNvSpPr/>
          <p:nvPr>
            <p:extLst>
              <p:ext uri="{F5677B7D-0D2A-4D9B-9A5C-6D8D7D0E5A5D}">
                <pptd:line encoding="base64url">eyJ2aWV3Qm94IjpbNjYsMTRdLCJwb2ludHMiOiIwLDcgNjYsNyJ9</pptd:line>
              </p:ext>
            </p:extLst>
          </p:nvPr>
        </p:nvSpPr>
        <p:spPr>
          <a:xfrm>
            <a:off x="5511800" y="2692400"/>
            <a:ext cx="838200" cy="177800"/>
          </a:xfrm>
          <a:custGeom>
            <a:avLst/>
            <a:gdLst/>
            <a:ahLst/>
            <a:cxnLst/>
            <a:rect l="l" t="t" r="r" b="b"/>
            <a:pathLst>
              <a:path w="66" h="14">
                <a:moveTo>
                  <a:pt x="0" y="7"/>
                </a:moveTo>
                <a:lnTo>
                  <a:pt x="66" y="7"/>
                </a:lnTo>
              </a:path>
            </a:pathLst>
          </a:custGeom>
          <a:noFill/>
          <a:ln w="19050" cap="rnd">
            <a:solidFill>
              <a:srgbClr val="C0562F"/>
            </a:solidFill>
            <a:round/>
          </a:ln>
        </p:spPr>
      </p:sp>
      <p:sp>
        <p:nvSpPr>
          <p:cNvPr id="18" name="tl-gap-head"/>
          <p:cNvSpPr/>
          <p:nvPr/>
        </p:nvSpPr>
        <p:spPr>
          <a:xfrm rot="5400000">
            <a:off x="6299200" y="2717800"/>
            <a:ext cx="127000" cy="127000"/>
          </a:xfrm>
          <a:prstGeom prst="triangle">
            <a:avLst/>
          </a:prstGeom>
          <a:solidFill>
            <a:srgbClr val="C0562F"/>
          </a:solidFill>
          <a:ln>
            <a:noFill/>
          </a:ln>
        </p:spPr>
      </p:sp>
      <p:sp>
        <p:nvSpPr>
          <p:cNvPr id="19" name="diag-note"/>
          <p:cNvSpPr txBox="1"/>
          <p:nvPr/>
        </p:nvSpPr>
        <p:spPr>
          <a:xfrm>
            <a:off x="508000" y="3581400"/>
            <a:ext cx="6604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0000"/>
              </a:lnSpc>
            </a:pPr>
            <a:r>
              <a:rPr lang="en-US" sz="1150" noProof="1">
                <a:solidFill>
                  <a:srgbClr val="6E767C"/>
                </a:solidFill>
                <a:latin typeface="MiSans"/>
                <a:ea typeface="MiSans"/>
              </a:rPr>
              <a:t>原特征 load_lag_1008 取的是</a:t>
            </a:r>
            <a:r>
              <a:rPr lang="en-US" sz="1150" noProof="1" b="1">
                <a:solidFill>
                  <a:srgbClr val="6E767C"/>
                </a:solidFill>
                <a:latin typeface="MiSans"/>
                <a:ea typeface="MiSans"/>
              </a:rPr>
              <a:t>起点</a:t>
            </a:r>
            <a:r>
              <a:rPr lang="en-US" sz="1150" noProof="1">
                <a:solidFill>
                  <a:srgbClr val="6E767C"/>
                </a:solidFill>
                <a:latin typeface="MiSans"/>
                <a:ea typeface="MiSans"/>
              </a:rPr>
              <a:t>往前一周，比基线所用的</a:t>
            </a:r>
            <a:r>
              <a:rPr lang="en-US" sz="1150" noProof="1" b="1">
                <a:solidFill>
                  <a:srgbClr val="6E767C"/>
                </a:solidFill>
                <a:latin typeface="MiSans"/>
                <a:ea typeface="MiSans"/>
              </a:rPr>
              <a:t>目标时刻</a:t>
            </a:r>
            <a:r>
              <a:rPr lang="en-US" sz="1150" noProof="1">
                <a:solidFill>
                  <a:srgbClr val="6E767C"/>
                </a:solidFill>
                <a:latin typeface="MiSans"/>
                <a:ea typeface="MiSans"/>
              </a:rPr>
              <a:t>周同期值</a:t>
            </a:r>
            <a:r>
              <a:rPr lang="en-US" sz="1150" noProof="1" b="1">
                <a:solidFill>
                  <a:srgbClr val="C0562F"/>
                </a:solidFill>
                <a:latin typeface="MiSans"/>
                <a:ea typeface="MiSans"/>
              </a:rPr>
              <a:t>早 1 小时</a:t>
            </a:r>
            <a:r>
              <a:rPr lang="en-US" sz="1150" noProof="1">
                <a:solidFill>
                  <a:srgbClr val="6E767C"/>
                </a:solidFill>
                <a:latin typeface="MiSans"/>
                <a:ea typeface="MiSans"/>
              </a:rPr>
              <a:t>——学习模型根本没拿到基线直接使用的那条记录，</a:t>
            </a:r>
            <a:r>
              <a:rPr lang="en-US" sz="1150" noProof="1">
                <a:solidFill>
                  <a:srgbClr val="FFFFFF"/>
                </a:solidFill>
                <a:highlight>
                  <a:srgbClr val="C0562F"/>
                </a:highlight>
                <a:latin typeface="MiSans"/>
                <a:ea typeface="MiSans"/>
              </a:rPr>
              <a:t> "基线不可战胜"是口径不一致造成的假象 </a:t>
            </a:r>
            <a:r>
              <a:rPr lang="en-US" sz="1150" noProof="1">
                <a:solidFill>
                  <a:srgbClr val="6E767C"/>
                </a:solidFill>
                <a:latin typeface="MiSans"/>
                <a:ea typeface="MiSans"/>
              </a:rPr>
              <a:t>。</a:t>
            </a:r>
            <a:endParaRPr lang="en-US" sz="1150" noProof="1"/>
          </a:p>
        </p:txBody>
      </p:sp>
      <p:sp>
        <p:nvSpPr>
          <p:cNvPr id="20" name="fix-label"/>
          <p:cNvSpPr txBox="1"/>
          <p:nvPr/>
        </p:nvSpPr>
        <p:spPr>
          <a:xfrm>
            <a:off x="7620000" y="1117600"/>
            <a:ext cx="4064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300" noProof="1" b="1">
                <a:solidFill>
                  <a:srgbClr val="232A30"/>
                </a:solidFill>
                <a:latin typeface="MiSans"/>
                <a:ea typeface="MiSans"/>
              </a:rPr>
              <a:t>修正：目标时刻对齐的周同期特征</a:t>
            </a:r>
            <a:endParaRPr lang="en-US" sz="1300" noProof="1"/>
          </a:p>
        </p:txBody>
      </p:sp>
      <p:sp>
        <p:nvSpPr>
          <p:cNvPr id="21" name="fix-code-bg"/>
          <p:cNvSpPr/>
          <p:nvPr/>
        </p:nvSpPr>
        <p:spPr>
          <a:xfrm>
            <a:off x="7620000" y="1447800"/>
            <a:ext cx="4064000" cy="1219200"/>
          </a:xfrm>
          <a:prstGeom prst="rect">
            <a:avLst/>
          </a:prstGeom>
          <a:solidFill>
            <a:srgbClr val="232A30"/>
          </a:solidFill>
          <a:ln>
            <a:noFill/>
          </a:ln>
        </p:spPr>
      </p:sp>
      <p:sp>
        <p:nvSpPr>
          <p:cNvPr id="22" name="fix-code"/>
          <p:cNvSpPr txBox="1"/>
          <p:nvPr/>
        </p:nvSpPr>
        <p:spPr>
          <a:xfrm>
            <a:off x="7772400" y="1574800"/>
            <a:ext cx="3759200" cy="990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0000"/>
              </a:lnSpc>
            </a:pPr>
            <a:r>
              <a:rPr lang="en-US" sz="1050" noProof="1">
                <a:solidFill>
                  <a:srgbClr val="DDE3E6"/>
                </a:solidFill>
                <a:latin typeface="Consolas"/>
                <a:ea typeface="Consolas"/>
              </a:rPr>
              <a:t># src/features.py</a:t>
            </a:r>
            <a:endParaRPr lang="en-US" sz="1050" noProof="1"/>
          </a:p>
          <a:p>
            <a:pPr>
              <a:lnSpc>
                <a:spcPct val="140000"/>
              </a:lnSpc>
            </a:pPr>
            <a:r>
              <a:rPr lang="en-US" sz="1050" noProof="1">
                <a:solidFill>
                  <a:srgbClr val="DDE3E6"/>
                </a:solidFill>
                <a:latin typeface="Consolas"/>
                <a:ea typeface="Consolas"/>
              </a:rPr>
              <a:t>TARGET_WEEK_LAG = 1002</a:t>
            </a:r>
            <a:endParaRPr lang="en-US" sz="1050" noProof="1"/>
          </a:p>
          <a:p>
            <a:pPr>
              <a:lnSpc>
                <a:spcPct val="140000"/>
              </a:lnSpc>
            </a:pPr>
            <a:r>
              <a:rPr lang="en-US" sz="1050" noProof="1">
                <a:solidFill>
                  <a:srgbClr val="DDE3E6"/>
                </a:solidFill>
                <a:latin typeface="Consolas"/>
                <a:ea typeface="Consolas"/>
              </a:rPr>
              <a:t>df["load_target_week"] = \</a:t>
            </a:r>
            <a:endParaRPr lang="en-US" sz="1050" noProof="1"/>
          </a:p>
          <a:p>
            <a:pPr>
              <a:lnSpc>
                <a:spcPct val="140000"/>
              </a:lnSpc>
            </a:pPr>
            <a:r>
              <a:rPr lang="en-US" sz="1050" noProof="1">
                <a:solidFill>
                  <a:srgbClr val="DDE3E6"/>
                </a:solidFill>
                <a:latin typeface="Consolas"/>
                <a:ea typeface="Consolas"/>
              </a:rPr>
              <a:t>df["load"].shift(1002)</a:t>
            </a:r>
            <a:endParaRPr lang="en-US" sz="1050" noProof="1"/>
          </a:p>
          <a:p>
            <a:pPr>
              <a:lnSpc>
                <a:spcPct val="140000"/>
              </a:lnSpc>
            </a:pPr>
            <a:r>
              <a:rPr lang="en-US" sz="1050" noProof="1">
                <a:solidFill>
                  <a:srgbClr val="DDE3E6"/>
                </a:solidFill>
                <a:latin typeface="Consolas"/>
                <a:ea typeface="Consolas"/>
              </a:rPr>
              <a:t># = 目标时刻 t+6 的上周同期值</a:t>
            </a:r>
            <a:endParaRPr lang="en-US" sz="1050" noProof="1"/>
          </a:p>
        </p:txBody>
      </p:sp>
      <p:sp>
        <p:nvSpPr>
          <p:cNvPr id="23" name="fix-note"/>
          <p:cNvSpPr txBox="1"/>
          <p:nvPr/>
        </p:nvSpPr>
        <p:spPr>
          <a:xfrm>
            <a:off x="7620000" y="2794000"/>
            <a:ext cx="4064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0000"/>
              </a:lnSpc>
            </a:pPr>
            <a:r>
              <a:rPr lang="en-US" sz="1150" noProof="1">
                <a:solidFill>
                  <a:srgbClr val="6E767C"/>
                </a:solidFill>
                <a:latin typeface="MiSans"/>
                <a:ea typeface="MiSans"/>
              </a:rPr>
              <a:t>y(t−1002) 是预测起点时已可观测的历史值，</a:t>
            </a:r>
            <a:r>
              <a:rPr lang="en-US" sz="1150" noProof="1" b="1">
                <a:solidFill>
                  <a:srgbClr val="6E767C"/>
                </a:solidFill>
                <a:latin typeface="MiSans"/>
                <a:ea typeface="MiSans"/>
              </a:rPr>
              <a:t>不构成未来信息</a:t>
            </a:r>
            <a:r>
              <a:rPr lang="en-US" sz="1150" noProof="1">
                <a:solidFill>
                  <a:srgbClr val="6E767C"/>
                </a:solidFill>
                <a:latin typeface="MiSans"/>
                <a:ea typeface="MiSans"/>
              </a:rPr>
              <a:t>，部署条件与基线完全相同。</a:t>
            </a:r>
            <a:endParaRPr lang="en-US" sz="1150" noProof="1"/>
          </a:p>
        </p:txBody>
      </p:sp>
      <p:graphicFrame>
        <p:nvGraphicFramePr>
          <p:cNvPr id="24" name="cmp-table"/>
          <p:cNvGraphicFramePr>
            <a:graphicFrameLocks noGrp="1"/>
          </p:cNvGraphicFramePr>
          <p:nvPr/>
        </p:nvGraphicFramePr>
        <p:xfrm>
          <a:off x="508000" y="4521200"/>
          <a:ext cx="11176000" cy="1524000"/>
        </p:xfrm>
        <a:graphic>
          <a:graphicData uri="http://schemas.openxmlformats.org/drawingml/2006/table">
            <a:tbl>
              <a:tblPr/>
              <a:tblGrid>
                <a:gridCol w="3352800"/>
                <a:gridCol w="2604008"/>
                <a:gridCol w="2604008"/>
                <a:gridCol w="2615184"/>
              </a:tblGrid>
              <a:tr h="457200"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模型（三区合并 MAE / RMSE）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6424B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改进前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6424B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改进后（加周同期特征）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6424B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相对基线变化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6424B"/>
                    </a:solidFill>
                  </a:tcPr>
                </a:tc>
              </a:tr>
              <a:tr h="533400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线性回归 LR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1493.37 / 1957.37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 b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514.09 / 767.16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 b="1">
                          <a:solidFill>
                            <a:srgbClr val="FFFFFF"/>
                          </a:solidFill>
                          <a:highlight>
                            <a:srgbClr val="C0562F"/>
                          </a:highlight>
                          <a:latin typeface="Times New Roman"/>
                          <a:ea typeface="Times New Roman"/>
                        </a:rPr>
                        <a:t> −51.1% / −53.3% 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</a:tr>
              <a:tr h="533400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梯度提升树 GBT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1554.91 / 2126.30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 b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930.62 / 1258.73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 b="1">
                          <a:solidFill>
                            <a:srgbClr val="FFFFFF"/>
                          </a:solidFill>
                          <a:highlight>
                            <a:srgbClr val="C0562F"/>
                          </a:highlight>
                          <a:latin typeface="Times New Roman"/>
                          <a:ea typeface="Times New Roman"/>
                        </a:rPr>
                        <a:t> −11.4% / −23.4% 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5" name="cmp-cap"/>
          <p:cNvSpPr txBox="1"/>
          <p:nvPr/>
        </p:nvSpPr>
        <p:spPr>
          <a:xfrm>
            <a:off x="508000" y="6096000"/>
            <a:ext cx="11176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E767C"/>
                </a:solidFill>
                <a:latin typeface="MiSans"/>
                <a:ea typeface="MiSans"/>
              </a:rPr>
              <a:t>表 2　补入目标对齐周同期特征后，两个学习模型全面反超基线（1050.68 / 1643.67），LR 表现最佳</a:t>
            </a:r>
            <a:endParaRPr lang="en-US" sz="1000" noProof="1"/>
          </a:p>
        </p:txBody>
      </p:sp>
      <p:sp>
        <p:nvSpPr>
          <p:cNvPr id="26" name="foot-line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8D4CB"/>
          </a:solidFill>
          <a:ln>
            <a:noFill/>
          </a:ln>
        </p:spPr>
      </p:sp>
      <p:sp>
        <p:nvSpPr>
          <p:cNvPr id="27" name="foot"/>
          <p:cNvSpPr txBox="1"/>
          <p:nvPr/>
        </p:nvSpPr>
        <p:spPr>
          <a:xfrm>
            <a:off x="508000" y="6502400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E767C"/>
                </a:solidFill>
                <a:latin typeface="MiSans"/>
                <a:ea typeface="MiSans"/>
              </a:rPr>
              <a:t>实验记录：EXP-20261021-06；明细见 outputs/metrics/probe_target_week_summary.csv</a:t>
            </a:r>
            <a:endParaRPr lang="en-US" sz="1000" noProof="1"/>
          </a:p>
        </p:txBody>
      </p:sp>
      <p:sp>
        <p:nvSpPr>
          <p:cNvPr id="28" name="page-num"/>
          <p:cNvSpPr txBox="1"/>
          <p:nvPr/>
        </p:nvSpPr>
        <p:spPr>
          <a:xfrm>
            <a:off x="11176000" y="6502400"/>
            <a:ext cx="508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E767C"/>
                </a:solidFill>
                <a:latin typeface="MiSans"/>
                <a:ea typeface="MiSans"/>
              </a:rPr>
              <a:t>6 / 9</a:t>
            </a:r>
            <a:endParaRPr lang="en-US" sz="1000" noProof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-bar"/>
          <p:cNvSpPr/>
          <p:nvPr/>
        </p:nvSpPr>
        <p:spPr>
          <a:xfrm>
            <a:off x="508000" y="431800"/>
            <a:ext cx="76200" cy="330200"/>
          </a:xfrm>
          <a:prstGeom prst="rect">
            <a:avLst/>
          </a:prstGeom>
          <a:solidFill>
            <a:srgbClr val="C0562F"/>
          </a:solidFill>
          <a:ln>
            <a:noFill/>
          </a:ln>
        </p:spPr>
      </p:sp>
      <p:sp>
        <p:nvSpPr>
          <p:cNvPr id="3" name="hdr-title"/>
          <p:cNvSpPr txBox="1"/>
          <p:nvPr/>
        </p:nvSpPr>
        <p:spPr>
          <a:xfrm>
            <a:off x="711200" y="406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2600" noProof="1" b="1">
                <a:solidFill>
                  <a:srgbClr val="232A30"/>
                </a:solidFill>
                <a:latin typeface="MiSans"/>
                <a:ea typeface="MiSans"/>
              </a:rPr>
              <a:t>天气特征消融实验</a:t>
            </a:r>
            <a:endParaRPr lang="en-US" sz="2600" noProof="1"/>
          </a:p>
        </p:txBody>
      </p:sp>
      <p:sp>
        <p:nvSpPr>
          <p:cNvPr id="4" name="hdr-tag"/>
          <p:cNvSpPr txBox="1"/>
          <p:nvPr/>
        </p:nvSpPr>
        <p:spPr>
          <a:xfrm>
            <a:off x="9906000" y="482600"/>
            <a:ext cx="1778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E767C"/>
                </a:solidFill>
                <a:latin typeface="MiSans"/>
                <a:ea typeface="MiSans"/>
              </a:rPr>
              <a:t>06 · 消融分析</a:t>
            </a:r>
            <a:endParaRPr lang="en-US" sz="1100" noProof="1"/>
          </a:p>
        </p:txBody>
      </p:sp>
      <p:sp>
        <p:nvSpPr>
          <p:cNvPr id="5" name="hdr-line"/>
          <p:cNvSpPr/>
          <p:nvPr/>
        </p:nvSpPr>
        <p:spPr>
          <a:xfrm>
            <a:off x="508000" y="889000"/>
            <a:ext cx="11176000" cy="12700"/>
          </a:xfrm>
          <a:prstGeom prst="rect">
            <a:avLst/>
          </a:prstGeom>
          <a:solidFill>
            <a:srgbClr val="D8D4CB"/>
          </a:solidFill>
          <a:ln>
            <a:noFill/>
          </a:ln>
        </p:spPr>
      </p:sp>
      <p:pic>
        <p:nvPicPr>
          <p:cNvPr id="6" name="abl-img"/>
          <p:cNvPicPr/>
          <p:nvPr/>
        </p:nvPicPr>
        <p:blipFill>
          <a:blip r:embed="rId2"/>
          <a:srcRect t="-114" b="-114"/>
          <a:stretch>
            <a:fillRect/>
          </a:stretch>
        </p:blipFill>
        <p:spPr>
          <a:xfrm>
            <a:off x="508000" y="1117600"/>
            <a:ext cx="6604000" cy="2527300"/>
          </a:xfrm>
          <a:prstGeom prst="rect">
            <a:avLst/>
          </a:prstGeom>
          <a:ln>
            <a:noFill/>
          </a:ln>
        </p:spPr>
      </p:pic>
      <p:sp>
        <p:nvSpPr>
          <p:cNvPr id="7" name="abl-cap"/>
          <p:cNvSpPr txBox="1"/>
          <p:nvPr/>
        </p:nvSpPr>
        <p:spPr>
          <a:xfrm>
            <a:off x="508000" y="3683000"/>
            <a:ext cx="6604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E767C"/>
                </a:solidFill>
                <a:latin typeface="MiSans"/>
                <a:ea typeface="MiSans"/>
              </a:rPr>
              <a:t>图 4　加入天气特征前后测试集 RMSE 变化（负值 = 误差下降）</a:t>
            </a:r>
            <a:endParaRPr lang="en-US" sz="1000" noProof="1"/>
          </a:p>
        </p:txBody>
      </p:sp>
      <p:graphicFrame>
        <p:nvGraphicFramePr>
          <p:cNvPr id="8" name="abl-table"/>
          <p:cNvGraphicFramePr>
            <a:graphicFrameLocks noGrp="1"/>
          </p:cNvGraphicFramePr>
          <p:nvPr/>
        </p:nvGraphicFramePr>
        <p:xfrm>
          <a:off x="7493000" y="1117600"/>
          <a:ext cx="4191000" cy="2768600"/>
        </p:xfrm>
        <a:graphic>
          <a:graphicData uri="http://schemas.openxmlformats.org/drawingml/2006/table">
            <a:tbl>
              <a:tblPr/>
              <a:tblGrid>
                <a:gridCol w="1424940"/>
                <a:gridCol w="922020"/>
                <a:gridCol w="922020"/>
                <a:gridCol w="922020"/>
              </a:tblGrid>
              <a:tr h="664464"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RMSE 变化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6424B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区域 1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6424B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区域 2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6424B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区域 3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6424B"/>
                    </a:solidFill>
                  </a:tcPr>
                </a:tc>
              </a:tr>
              <a:tr h="526034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LR（原特征集）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−23.3%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−4.2%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−34.6%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</a:tr>
              <a:tr h="526034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GBT（原特征集）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−23.2%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−10.5%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−5.2%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</a:tr>
              <a:tr h="526034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LR（含周同期）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−11.0%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 b="1">
                          <a:solidFill>
                            <a:srgbClr val="C0562F"/>
                          </a:solidFill>
                          <a:latin typeface="Times New Roman"/>
                          <a:ea typeface="Times New Roman"/>
                        </a:rPr>
                        <a:t>+5.1%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 b="1">
                          <a:solidFill>
                            <a:srgbClr val="C0562F"/>
                          </a:solidFill>
                          <a:latin typeface="Times New Roman"/>
                          <a:ea typeface="Times New Roman"/>
                        </a:rPr>
                        <a:t>+1.0%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</a:tr>
              <a:tr h="526034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1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GBT（含周同期）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−17.9%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−5.9%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200" noProof="1">
                          <a:solidFill>
                            <a:srgbClr val="232A30"/>
                          </a:solidFill>
                          <a:latin typeface="Times New Roman"/>
                          <a:ea typeface="Times New Roman"/>
                        </a:rPr>
                        <a:t>−0.4%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8D4C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" name="abl-table-cap"/>
          <p:cNvSpPr txBox="1"/>
          <p:nvPr/>
        </p:nvSpPr>
        <p:spPr>
          <a:xfrm>
            <a:off x="7493000" y="3937000"/>
            <a:ext cx="4191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E767C"/>
                </a:solidFill>
                <a:latin typeface="MiSans"/>
                <a:ea typeface="MiSans"/>
              </a:rPr>
              <a:t>表 3　天气特征消融：测试集 RMSE 相对变化</a:t>
            </a:r>
            <a:endParaRPr lang="en-US" sz="1000" noProof="1"/>
          </a:p>
        </p:txBody>
      </p:sp>
      <p:sp>
        <p:nvSpPr>
          <p:cNvPr id="10" name="concl-band"/>
          <p:cNvSpPr/>
          <p:nvPr/>
        </p:nvSpPr>
        <p:spPr>
          <a:xfrm>
            <a:off x="508000" y="4318000"/>
            <a:ext cx="11176000" cy="558800"/>
          </a:xfrm>
          <a:prstGeom prst="rect">
            <a:avLst/>
          </a:prstGeom>
          <a:solidFill>
            <a:srgbClr val="C0562F"/>
          </a:solidFill>
          <a:ln>
            <a:noFill/>
          </a:ln>
        </p:spPr>
      </p:sp>
      <p:sp>
        <p:nvSpPr>
          <p:cNvPr id="11" name="concl-band-text"/>
          <p:cNvSpPr txBox="1"/>
          <p:nvPr/>
        </p:nvSpPr>
        <p:spPr>
          <a:xfrm>
            <a:off x="812800" y="4394200"/>
            <a:ext cx="10566400" cy="40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1350" noProof="1" b="1">
                <a:solidFill>
                  <a:srgbClr val="FFFFFF"/>
                </a:solidFill>
                <a:latin typeface="MiSans"/>
                <a:ea typeface="MiSans"/>
              </a:rPr>
              <a:t>结论：天气特征的预测增益存在明显的模型与区域差异，不能笼统宣称"天气特征显著改善预测"。</a:t>
            </a:r>
            <a:endParaRPr lang="en-US" sz="1350" noProof="1"/>
          </a:p>
        </p:txBody>
      </p:sp>
      <p:sp>
        <p:nvSpPr>
          <p:cNvPr id="12" name="abl-conclusion"/>
          <p:cNvSpPr txBox="1"/>
          <p:nvPr/>
        </p:nvSpPr>
        <p:spPr>
          <a:xfrm>
            <a:off x="508000" y="5054600"/>
            <a:ext cx="11176000" cy="1143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50000"/>
              </a:lnSpc>
            </a:pPr>
            <a:r>
              <a:rPr lang="en-US" sz="1250" noProof="1">
                <a:solidFill>
                  <a:srgbClr val="232A30"/>
                </a:solidFill>
                <a:latin typeface="MiSans"/>
                <a:ea typeface="MiSans"/>
              </a:rPr>
              <a:t>· 原特征集下 6 个组合中 </a:t>
            </a:r>
            <a:r>
              <a:rPr lang="en-US" sz="1250" noProof="1" b="1">
                <a:solidFill>
                  <a:srgbClr val="C0562F"/>
                </a:solidFill>
                <a:latin typeface="MiSans"/>
                <a:ea typeface="MiSans"/>
              </a:rPr>
              <a:t>5 个</a:t>
            </a:r>
            <a:r>
              <a:rPr lang="en-US" sz="1250" noProof="1">
                <a:solidFill>
                  <a:srgbClr val="232A30"/>
                </a:solidFill>
                <a:latin typeface="MiSans"/>
                <a:ea typeface="MiSans"/>
              </a:rPr>
              <a:t>误差下降，天气确实携带有效信息；</a:t>
            </a:r>
            <a:endParaRPr lang="en-US" sz="1250" noProof="1"/>
          </a:p>
          <a:p>
            <a:pPr>
              <a:lnSpc>
                <a:spcPct val="150000"/>
              </a:lnSpc>
            </a:pPr>
            <a:r>
              <a:rPr lang="en-US" sz="1250" noProof="1">
                <a:solidFill>
                  <a:srgbClr val="232A30"/>
                </a:solidFill>
                <a:latin typeface="MiSans"/>
                <a:ea typeface="MiSans"/>
              </a:rPr>
              <a:t>· 但在</a:t>
            </a:r>
            <a:r>
              <a:rPr lang="en-US" sz="1250" noProof="1" b="1">
                <a:solidFill>
                  <a:srgbClr val="232A30"/>
                </a:solidFill>
                <a:latin typeface="MiSans"/>
                <a:ea typeface="MiSans"/>
              </a:rPr>
              <a:t>周同期特征已存在</a:t>
            </a:r>
            <a:r>
              <a:rPr lang="en-US" sz="1250" noProof="1">
                <a:solidFill>
                  <a:srgbClr val="232A30"/>
                </a:solidFill>
                <a:latin typeface="MiSans"/>
                <a:ea typeface="MiSans"/>
              </a:rPr>
              <a:t>的推荐配置下，边际增益收窄：6 个组合仅 </a:t>
            </a:r>
            <a:r>
              <a:rPr lang="en-US" sz="1250" noProof="1" b="1">
                <a:solidFill>
                  <a:srgbClr val="C0562F"/>
                </a:solidFill>
                <a:latin typeface="MiSans"/>
                <a:ea typeface="MiSans"/>
              </a:rPr>
              <a:t>3 个</a:t>
            </a:r>
            <a:r>
              <a:rPr lang="en-US" sz="1250" noProof="1">
                <a:solidFill>
                  <a:srgbClr val="232A30"/>
                </a:solidFill>
                <a:latin typeface="MiSans"/>
                <a:ea typeface="MiSans"/>
              </a:rPr>
              <a:t>下降——GBT 三区全降，LR 在区域 2/3 反而上升；</a:t>
            </a:r>
            <a:endParaRPr lang="en-US" sz="1250" noProof="1"/>
          </a:p>
          <a:p>
            <a:pPr>
              <a:lnSpc>
                <a:spcPct val="150000"/>
              </a:lnSpc>
            </a:pPr>
            <a:r>
              <a:rPr lang="en-US" sz="1250" noProof="1">
                <a:solidFill>
                  <a:srgbClr val="232A30"/>
                </a:solidFill>
                <a:latin typeface="MiSans"/>
                <a:ea typeface="MiSans"/>
              </a:rPr>
              <a:t>· 增益大小取决于</a:t>
            </a:r>
            <a:r>
              <a:rPr lang="en-US" sz="1250" noProof="1" b="1">
                <a:solidFill>
                  <a:srgbClr val="232A30"/>
                </a:solidFill>
                <a:latin typeface="MiSans"/>
                <a:ea typeface="MiSans"/>
              </a:rPr>
              <a:t>模型已掌握多少周期信息</a:t>
            </a:r>
            <a:r>
              <a:rPr lang="en-US" sz="1250" noProof="1">
                <a:solidFill>
                  <a:srgbClr val="232A30"/>
                </a:solidFill>
                <a:latin typeface="MiSans"/>
                <a:ea typeface="MiSans"/>
              </a:rPr>
              <a:t>；且本实验使用同步天气观测，实际部署须替换为</a:t>
            </a:r>
            <a:r>
              <a:rPr lang="en-US" sz="1250" noProof="1">
                <a:solidFill>
                  <a:srgbClr val="FFFFFF"/>
                </a:solidFill>
                <a:highlight>
                  <a:srgbClr val="C0562F"/>
                </a:highlight>
                <a:latin typeface="MiSans"/>
                <a:ea typeface="MiSans"/>
              </a:rPr>
              <a:t> 天气预报 </a:t>
            </a:r>
            <a:r>
              <a:rPr lang="en-US" sz="1250" noProof="1">
                <a:solidFill>
                  <a:srgbClr val="232A30"/>
                </a:solidFill>
                <a:latin typeface="MiSans"/>
                <a:ea typeface="MiSans"/>
              </a:rPr>
              <a:t>，预报误差会进一步压缩这部分收益。</a:t>
            </a:r>
            <a:endParaRPr lang="en-US" sz="1250" noProof="1"/>
          </a:p>
        </p:txBody>
      </p:sp>
      <p:sp>
        <p:nvSpPr>
          <p:cNvPr id="13" name="foot-line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8D4CB"/>
          </a:solidFill>
          <a:ln>
            <a:noFill/>
          </a:ln>
        </p:spPr>
      </p:sp>
      <p:sp>
        <p:nvSpPr>
          <p:cNvPr id="14" name="foot"/>
          <p:cNvSpPr txBox="1"/>
          <p:nvPr/>
        </p:nvSpPr>
        <p:spPr>
          <a:xfrm>
            <a:off x="508000" y="6502400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E767C"/>
                </a:solidFill>
                <a:latin typeface="MiSans"/>
                <a:ea typeface="MiSans"/>
              </a:rPr>
              <a:t>消融明细见 outputs/metrics/ablation_summary.csv；两组实验均统一 scikit-learn 1.6.1 复现</a:t>
            </a:r>
            <a:endParaRPr lang="en-US" sz="1000" noProof="1"/>
          </a:p>
        </p:txBody>
      </p:sp>
      <p:sp>
        <p:nvSpPr>
          <p:cNvPr id="15" name="page-num"/>
          <p:cNvSpPr txBox="1"/>
          <p:nvPr/>
        </p:nvSpPr>
        <p:spPr>
          <a:xfrm>
            <a:off x="11176000" y="6502400"/>
            <a:ext cx="508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E767C"/>
                </a:solidFill>
                <a:latin typeface="MiSans"/>
                <a:ea typeface="MiSans"/>
              </a:rPr>
              <a:t>7 / 9</a:t>
            </a:r>
            <a:endParaRPr lang="en-US" sz="1000" noProof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-bar"/>
          <p:cNvSpPr/>
          <p:nvPr/>
        </p:nvSpPr>
        <p:spPr>
          <a:xfrm>
            <a:off x="508000" y="431800"/>
            <a:ext cx="76200" cy="330200"/>
          </a:xfrm>
          <a:prstGeom prst="rect">
            <a:avLst/>
          </a:prstGeom>
          <a:solidFill>
            <a:srgbClr val="C0562F"/>
          </a:solidFill>
          <a:ln>
            <a:noFill/>
          </a:ln>
        </p:spPr>
      </p:sp>
      <p:sp>
        <p:nvSpPr>
          <p:cNvPr id="3" name="hdr-title"/>
          <p:cNvSpPr txBox="1"/>
          <p:nvPr/>
        </p:nvSpPr>
        <p:spPr>
          <a:xfrm>
            <a:off x="711200" y="406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2600" noProof="1" b="1">
                <a:solidFill>
                  <a:srgbClr val="232A30"/>
                </a:solidFill>
                <a:latin typeface="MiSans"/>
                <a:ea typeface="MiSans"/>
              </a:rPr>
              <a:t>误差分析与研究局限</a:t>
            </a:r>
            <a:endParaRPr lang="en-US" sz="2600" noProof="1"/>
          </a:p>
        </p:txBody>
      </p:sp>
      <p:sp>
        <p:nvSpPr>
          <p:cNvPr id="4" name="hdr-tag"/>
          <p:cNvSpPr txBox="1"/>
          <p:nvPr/>
        </p:nvSpPr>
        <p:spPr>
          <a:xfrm>
            <a:off x="9906000" y="482600"/>
            <a:ext cx="1778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E767C"/>
                </a:solidFill>
                <a:latin typeface="MiSans"/>
                <a:ea typeface="MiSans"/>
              </a:rPr>
              <a:t>07 · 误差诊断</a:t>
            </a:r>
            <a:endParaRPr lang="en-US" sz="1100" noProof="1"/>
          </a:p>
        </p:txBody>
      </p:sp>
      <p:sp>
        <p:nvSpPr>
          <p:cNvPr id="5" name="hdr-line"/>
          <p:cNvSpPr/>
          <p:nvPr/>
        </p:nvSpPr>
        <p:spPr>
          <a:xfrm>
            <a:off x="508000" y="889000"/>
            <a:ext cx="11176000" cy="12700"/>
          </a:xfrm>
          <a:prstGeom prst="rect">
            <a:avLst/>
          </a:prstGeom>
          <a:solidFill>
            <a:srgbClr val="D8D4CB"/>
          </a:solidFill>
          <a:ln>
            <a:noFill/>
          </a:ln>
        </p:spPr>
      </p:sp>
      <p:pic>
        <p:nvPicPr>
          <p:cNvPr id="6" name="fig7-img"/>
          <p:cNvPicPr/>
          <p:nvPr/>
        </p:nvPicPr>
        <p:blipFill>
          <a:blip r:embed="rId2"/>
          <a:srcRect l="-21" r="-21"/>
          <a:stretch>
            <a:fillRect/>
          </a:stretch>
        </p:blipFill>
        <p:spPr>
          <a:xfrm>
            <a:off x="508000" y="1117600"/>
            <a:ext cx="5969000" cy="3314700"/>
          </a:xfrm>
          <a:prstGeom prst="rect">
            <a:avLst/>
          </a:prstGeom>
          <a:ln>
            <a:noFill/>
          </a:ln>
        </p:spPr>
      </p:pic>
      <p:sp>
        <p:nvSpPr>
          <p:cNvPr id="7" name="fig7-cap"/>
          <p:cNvSpPr txBox="1"/>
          <p:nvPr/>
        </p:nvSpPr>
        <p:spPr>
          <a:xfrm>
            <a:off x="508000" y="4470400"/>
            <a:ext cx="5969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E767C"/>
                </a:solidFill>
                <a:latin typeface="MiSans"/>
                <a:ea typeface="MiSans"/>
              </a:rPr>
              <a:t>图 5　测试集实际负荷与预测负荷对比（改进后模型）</a:t>
            </a:r>
            <a:endParaRPr lang="en-US" sz="1000" noProof="1"/>
          </a:p>
        </p:txBody>
      </p:sp>
      <p:sp>
        <p:nvSpPr>
          <p:cNvPr id="8" name="peak-label"/>
          <p:cNvSpPr txBox="1"/>
          <p:nvPr/>
        </p:nvSpPr>
        <p:spPr>
          <a:xfrm>
            <a:off x="6858000" y="1117600"/>
            <a:ext cx="4826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300" noProof="1" b="1">
                <a:solidFill>
                  <a:srgbClr val="232A30"/>
                </a:solidFill>
                <a:latin typeface="MiSans"/>
                <a:ea typeface="MiSans"/>
              </a:rPr>
              <a:t>高负荷样本（≥ 训练期 Q90）的误差</a:t>
            </a:r>
            <a:endParaRPr lang="en-US" sz="1300" noProof="1"/>
          </a:p>
        </p:txBody>
      </p:sp>
      <p:sp>
        <p:nvSpPr>
          <p:cNvPr id="9" name="peak-nums"/>
          <p:cNvSpPr txBox="1"/>
          <p:nvPr/>
        </p:nvSpPr>
        <p:spPr>
          <a:xfrm>
            <a:off x="6858000" y="1447800"/>
            <a:ext cx="4826000" cy="127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232A30"/>
                </a:solidFill>
                <a:latin typeface="MiSans"/>
                <a:ea typeface="MiSans"/>
              </a:rPr>
              <a:t>区域 2 高峰时段 GBT RMSE </a:t>
            </a:r>
            <a:r>
              <a:rPr lang="en-US" sz="1300" noProof="1" b="1">
                <a:solidFill>
                  <a:srgbClr val="C0562F"/>
                </a:solidFill>
                <a:latin typeface="MiSans"/>
                <a:ea typeface="MiSans"/>
              </a:rPr>
              <a:t>1732</a:t>
            </a:r>
            <a:r>
              <a:rPr lang="en-US" sz="1300" noProof="1">
                <a:solidFill>
                  <a:srgbClr val="232A30"/>
                </a:solidFill>
                <a:latin typeface="MiSans"/>
                <a:ea typeface="MiSans"/>
              </a:rPr>
              <a:t>，为普通时段（825）的 </a:t>
            </a:r>
            <a:r>
              <a:rPr lang="en-US" sz="1300" noProof="1" b="1">
                <a:solidFill>
                  <a:srgbClr val="C0562F"/>
                </a:solidFill>
                <a:latin typeface="MiSans"/>
                <a:ea typeface="MiSans"/>
              </a:rPr>
              <a:t>2.1 倍</a:t>
            </a:r>
            <a:r>
              <a:rPr lang="en-US" sz="1300" noProof="1">
                <a:solidFill>
                  <a:srgbClr val="232A30"/>
                </a:solidFill>
                <a:latin typeface="MiSans"/>
                <a:ea typeface="MiSans"/>
              </a:rPr>
              <a:t>；</a:t>
            </a:r>
            <a:endParaRPr lang="en-US" sz="1300" noProof="1"/>
          </a:p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232A30"/>
                </a:solidFill>
                <a:latin typeface="MiSans"/>
                <a:ea typeface="MiSans"/>
              </a:rPr>
              <a:t>bias 由 −100 转为 </a:t>
            </a:r>
            <a:r>
              <a:rPr lang="en-US" sz="1300" noProof="1" b="1">
                <a:solidFill>
                  <a:srgbClr val="C0562F"/>
                </a:solidFill>
                <a:latin typeface="MiSans"/>
                <a:ea typeface="MiSans"/>
              </a:rPr>
              <a:t>−793</a:t>
            </a:r>
            <a:r>
              <a:rPr lang="en-US" sz="1300" noProof="1">
                <a:solidFill>
                  <a:srgbClr val="232A30"/>
                </a:solidFill>
                <a:latin typeface="MiSans"/>
                <a:ea typeface="MiSans"/>
              </a:rPr>
              <a:t>——</a:t>
            </a:r>
            <a:r>
              <a:rPr lang="en-US" sz="1300" noProof="1">
                <a:solidFill>
                  <a:srgbClr val="FFFFFF"/>
                </a:solidFill>
                <a:highlight>
                  <a:srgbClr val="C0562F"/>
                </a:highlight>
                <a:latin typeface="MiSans"/>
                <a:ea typeface="MiSans"/>
              </a:rPr>
              <a:t> 高峰时段系统性低估峰值，对调度最不安全 </a:t>
            </a:r>
            <a:r>
              <a:rPr lang="en-US" sz="1300" noProof="1">
                <a:solidFill>
                  <a:srgbClr val="232A30"/>
                </a:solidFill>
                <a:latin typeface="MiSans"/>
                <a:ea typeface="MiSans"/>
              </a:rPr>
              <a:t>。</a:t>
            </a:r>
            <a:endParaRPr lang="en-US" sz="1300" noProof="1"/>
          </a:p>
        </p:txBody>
      </p:sp>
      <p:sp>
        <p:nvSpPr>
          <p:cNvPr id="10" name="peak-limit"/>
          <p:cNvSpPr txBox="1"/>
          <p:nvPr/>
        </p:nvSpPr>
        <p:spPr>
          <a:xfrm>
            <a:off x="6858000" y="2819400"/>
            <a:ext cx="4826000" cy="838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6E767C"/>
                </a:solidFill>
                <a:latin typeface="MiSans"/>
                <a:ea typeface="MiSans"/>
              </a:rPr>
              <a:t>限制：区域 1 测试期高峰样本仅 </a:t>
            </a:r>
            <a:r>
              <a:rPr lang="en-US" sz="1200" noProof="1" b="1">
                <a:solidFill>
                  <a:srgbClr val="6E767C"/>
                </a:solidFill>
                <a:latin typeface="MiSans"/>
                <a:ea typeface="MiSans"/>
              </a:rPr>
              <a:t>9 条</a:t>
            </a:r>
            <a:r>
              <a:rPr lang="en-US" sz="1200" noProof="1">
                <a:solidFill>
                  <a:srgbClr val="6E767C"/>
                </a:solidFill>
                <a:latin typeface="MiSans"/>
                <a:ea typeface="MiSans"/>
              </a:rPr>
              <a:t>、区域 3 为 </a:t>
            </a:r>
            <a:r>
              <a:rPr lang="en-US" sz="1200" noProof="1" b="1">
                <a:solidFill>
                  <a:srgbClr val="6E767C"/>
                </a:solidFill>
                <a:latin typeface="MiSans"/>
                <a:ea typeface="MiSans"/>
              </a:rPr>
              <a:t>0 条</a:t>
            </a:r>
            <a:r>
              <a:rPr lang="en-US" sz="1200" noProof="1">
                <a:solidFill>
                  <a:srgbClr val="6E767C"/>
                </a:solidFill>
                <a:latin typeface="MiSans"/>
                <a:ea typeface="MiSans"/>
              </a:rPr>
              <a:t>（测试期负荷整体下移，极少超过训练期 Q90），这两区的高峰表现无法从本次数据确认。</a:t>
            </a:r>
            <a:endParaRPr lang="en-US" sz="1200" noProof="1"/>
          </a:p>
        </p:txBody>
      </p:sp>
      <p:sp>
        <p:nvSpPr>
          <p:cNvPr id="11" name="limit-rule"/>
          <p:cNvSpPr/>
          <p:nvPr/>
        </p:nvSpPr>
        <p:spPr>
          <a:xfrm>
            <a:off x="6858000" y="3835400"/>
            <a:ext cx="4826000" cy="25400"/>
          </a:xfrm>
          <a:prstGeom prst="rect">
            <a:avLst/>
          </a:prstGeom>
          <a:solidFill>
            <a:srgbClr val="16424B"/>
          </a:solidFill>
          <a:ln>
            <a:noFill/>
          </a:ln>
        </p:spPr>
      </p:sp>
      <p:sp>
        <p:nvSpPr>
          <p:cNvPr id="12" name="limit-label"/>
          <p:cNvSpPr txBox="1"/>
          <p:nvPr/>
        </p:nvSpPr>
        <p:spPr>
          <a:xfrm>
            <a:off x="6858000" y="3987800"/>
            <a:ext cx="4826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300" noProof="1" b="1">
                <a:solidFill>
                  <a:srgbClr val="232A30"/>
                </a:solidFill>
                <a:latin typeface="MiSans"/>
                <a:ea typeface="MiSans"/>
              </a:rPr>
              <a:t>研究局限（一年、单城市数据）</a:t>
            </a:r>
            <a:endParaRPr lang="en-US" sz="1300" noProof="1"/>
          </a:p>
        </p:txBody>
      </p:sp>
      <p:sp>
        <p:nvSpPr>
          <p:cNvPr id="13" name="limit-list"/>
          <p:cNvSpPr txBox="1"/>
          <p:nvPr/>
        </p:nvSpPr>
        <p:spPr>
          <a:xfrm>
            <a:off x="6858000" y="4292600"/>
            <a:ext cx="4826000" cy="165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232A30"/>
                </a:solidFill>
                <a:latin typeface="MiSans"/>
                <a:ea typeface="MiSans"/>
              </a:rPr>
              <a:t>· 负荷下移是季节性还是趋势性，单年度数据无法分离；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232A30"/>
                </a:solidFill>
                <a:latin typeface="MiSans"/>
                <a:ea typeface="MiSans"/>
              </a:rPr>
              <a:t>· 天气输入为同步观测，部署时须改用带误差的天气预报；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232A30"/>
                </a:solidFill>
                <a:latin typeface="MiSans"/>
                <a:ea typeface="MiSans"/>
              </a:rPr>
              <a:t>· 节假日、检修等日程突变下模型与基线同时失效；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232A30"/>
                </a:solidFill>
                <a:latin typeface="MiSans"/>
                <a:ea typeface="MiSans"/>
              </a:rPr>
              <a:t>· 结论不外推至其他城市 / 年份，不使用"显著提升"类统计措辞。</a:t>
            </a:r>
            <a:endParaRPr lang="en-US" sz="1200" noProof="1"/>
          </a:p>
        </p:txBody>
      </p:sp>
      <p:sp>
        <p:nvSpPr>
          <p:cNvPr id="14" name="err-summary"/>
          <p:cNvSpPr txBox="1"/>
          <p:nvPr/>
        </p:nvSpPr>
        <p:spPr>
          <a:xfrm>
            <a:off x="508000" y="4876800"/>
            <a:ext cx="5969000" cy="127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5000"/>
              </a:lnSpc>
            </a:pPr>
            <a:r>
              <a:rPr lang="en-US" sz="1200" noProof="1" b="1">
                <a:solidFill>
                  <a:srgbClr val="232A30"/>
                </a:solidFill>
                <a:latin typeface="MiSans"/>
                <a:ea typeface="MiSans"/>
              </a:rPr>
              <a:t>系统性偏差与漂移方向一致：</a:t>
            </a:r>
            <a:r>
              <a:rPr lang="en-US" sz="1200" noProof="1">
                <a:solidFill>
                  <a:srgbClr val="232A30"/>
                </a:solidFill>
                <a:latin typeface="MiSans"/>
                <a:ea typeface="MiSans"/>
              </a:rPr>
              <a:t>测试期区域 1/3 负荷均值下移（如区域 1 日均 </a:t>
            </a:r>
            <a:r>
              <a:rPr lang="en-US" sz="1200" noProof="1" b="1">
                <a:solidFill>
                  <a:srgbClr val="C0562F"/>
                </a:solidFill>
                <a:latin typeface="MiSans"/>
                <a:ea typeface="MiSans"/>
              </a:rPr>
              <a:t>33,065 → 29,056</a:t>
            </a:r>
            <a:r>
              <a:rPr lang="en-US" sz="1200" noProof="1">
                <a:solidFill>
                  <a:srgbClr val="232A30"/>
                </a:solidFill>
                <a:latin typeface="MiSans"/>
                <a:ea typeface="MiSans"/>
              </a:rPr>
              <a:t>），LR / GBT 在两区持续</a:t>
            </a:r>
            <a:r>
              <a:rPr lang="en-US" sz="1200" noProof="1" b="1">
                <a:solidFill>
                  <a:srgbClr val="232A30"/>
                </a:solidFill>
                <a:latin typeface="MiSans"/>
                <a:ea typeface="MiSans"/>
              </a:rPr>
              <a:t>高估</a:t>
            </a:r>
            <a:r>
              <a:rPr lang="en-US" sz="1200" noProof="1">
                <a:solidFill>
                  <a:srgbClr val="232A30"/>
                </a:solidFill>
                <a:latin typeface="MiSans"/>
                <a:ea typeface="MiSans"/>
              </a:rPr>
              <a:t>（GBT bias 最高 </a:t>
            </a:r>
            <a:r>
              <a:rPr lang="en-US" sz="1200" noProof="1" b="1">
                <a:solidFill>
                  <a:srgbClr val="C0562F"/>
                </a:solidFill>
                <a:latin typeface="MiSans"/>
                <a:ea typeface="MiSans"/>
              </a:rPr>
              <a:t>+1670</a:t>
            </a:r>
            <a:r>
              <a:rPr lang="en-US" sz="1200" noProof="1">
                <a:solidFill>
                  <a:srgbClr val="232A30"/>
                </a:solidFill>
                <a:latin typeface="MiSans"/>
                <a:ea typeface="MiSans"/>
              </a:rPr>
              <a:t>）；区域 2 方向相反转为低估。历史同期基线锚定上周同期值，bias 最小（−17 ~ +108）。</a:t>
            </a:r>
            <a:endParaRPr lang="en-US" sz="1200" noProof="1"/>
          </a:p>
        </p:txBody>
      </p:sp>
      <p:sp>
        <p:nvSpPr>
          <p:cNvPr id="15" name="foot-line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8D4CB"/>
          </a:solidFill>
          <a:ln>
            <a:noFill/>
          </a:ln>
        </p:spPr>
      </p:sp>
      <p:sp>
        <p:nvSpPr>
          <p:cNvPr id="16" name="foot"/>
          <p:cNvSpPr txBox="1"/>
          <p:nvPr/>
        </p:nvSpPr>
        <p:spPr>
          <a:xfrm>
            <a:off x="508000" y="6502400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E767C"/>
                </a:solidFill>
                <a:latin typeface="MiSans"/>
                <a:ea typeface="MiSans"/>
              </a:rPr>
              <a:t>误差明细见 outputs/metrics/error_peak_vs_normal.csv、error_overall.csv；分析记录见 docs/error_analysis_findings.md</a:t>
            </a:r>
            <a:endParaRPr lang="en-US" sz="1000" noProof="1"/>
          </a:p>
        </p:txBody>
      </p:sp>
      <p:sp>
        <p:nvSpPr>
          <p:cNvPr id="17" name="page-num"/>
          <p:cNvSpPr txBox="1"/>
          <p:nvPr/>
        </p:nvSpPr>
        <p:spPr>
          <a:xfrm>
            <a:off x="11176000" y="6502400"/>
            <a:ext cx="508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E767C"/>
                </a:solidFill>
                <a:latin typeface="MiSans"/>
                <a:ea typeface="MiSans"/>
              </a:rPr>
              <a:t>8 / 9</a:t>
            </a:r>
            <a:endParaRPr lang="en-US" sz="1000" noProof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-bar"/>
          <p:cNvSpPr/>
          <p:nvPr/>
        </p:nvSpPr>
        <p:spPr>
          <a:xfrm>
            <a:off x="508000" y="431800"/>
            <a:ext cx="76200" cy="330200"/>
          </a:xfrm>
          <a:prstGeom prst="rect">
            <a:avLst/>
          </a:prstGeom>
          <a:solidFill>
            <a:srgbClr val="C0562F"/>
          </a:solidFill>
          <a:ln>
            <a:noFill/>
          </a:ln>
        </p:spPr>
      </p:sp>
      <p:sp>
        <p:nvSpPr>
          <p:cNvPr id="3" name="hdr-title"/>
          <p:cNvSpPr txBox="1"/>
          <p:nvPr/>
        </p:nvSpPr>
        <p:spPr>
          <a:xfrm>
            <a:off x="711200" y="406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2600" noProof="1" b="1">
                <a:solidFill>
                  <a:srgbClr val="232A30"/>
                </a:solidFill>
                <a:latin typeface="MiSans"/>
                <a:ea typeface="MiSans"/>
              </a:rPr>
              <a:t>研究结论与团队分工</a:t>
            </a:r>
            <a:endParaRPr lang="en-US" sz="2600" noProof="1"/>
          </a:p>
        </p:txBody>
      </p:sp>
      <p:sp>
        <p:nvSpPr>
          <p:cNvPr id="4" name="hdr-tag"/>
          <p:cNvSpPr txBox="1"/>
          <p:nvPr/>
        </p:nvSpPr>
        <p:spPr>
          <a:xfrm>
            <a:off x="9906000" y="482600"/>
            <a:ext cx="1778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E767C"/>
                </a:solidFill>
                <a:latin typeface="MiSans"/>
                <a:ea typeface="MiSans"/>
              </a:rPr>
              <a:t>08 · 结论</a:t>
            </a:r>
            <a:endParaRPr lang="en-US" sz="1100" noProof="1"/>
          </a:p>
        </p:txBody>
      </p:sp>
      <p:sp>
        <p:nvSpPr>
          <p:cNvPr id="5" name="hdr-line"/>
          <p:cNvSpPr/>
          <p:nvPr/>
        </p:nvSpPr>
        <p:spPr>
          <a:xfrm>
            <a:off x="508000" y="889000"/>
            <a:ext cx="11176000" cy="12700"/>
          </a:xfrm>
          <a:prstGeom prst="rect">
            <a:avLst/>
          </a:prstGeom>
          <a:solidFill>
            <a:srgbClr val="D8D4CB"/>
          </a:solidFill>
          <a:ln>
            <a:noFill/>
          </a:ln>
        </p:spPr>
      </p:sp>
      <p:sp>
        <p:nvSpPr>
          <p:cNvPr id="6" name="concl-1-num"/>
          <p:cNvSpPr txBox="1"/>
          <p:nvPr/>
        </p:nvSpPr>
        <p:spPr>
          <a:xfrm>
            <a:off x="508000" y="1168400"/>
            <a:ext cx="4572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2200" noProof="1" b="1">
                <a:solidFill>
                  <a:srgbClr val="C0562F"/>
                </a:solidFill>
                <a:latin typeface="MiSans"/>
                <a:ea typeface="MiSans"/>
              </a:rPr>
              <a:t>①</a:t>
            </a:r>
            <a:endParaRPr lang="en-US" sz="2200" noProof="1"/>
          </a:p>
        </p:txBody>
      </p:sp>
      <p:sp>
        <p:nvSpPr>
          <p:cNvPr id="7" name="concl-1"/>
          <p:cNvSpPr txBox="1"/>
          <p:nvPr/>
        </p:nvSpPr>
        <p:spPr>
          <a:xfrm>
            <a:off x="1041400" y="1168400"/>
            <a:ext cx="5080000" cy="1219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2000"/>
              </a:lnSpc>
            </a:pPr>
            <a:r>
              <a:rPr lang="en-US" sz="1250" noProof="1" b="1">
                <a:solidFill>
                  <a:srgbClr val="FFFFFF"/>
                </a:solidFill>
                <a:highlight>
                  <a:srgbClr val="C0562F"/>
                </a:highlight>
                <a:latin typeface="MiSans"/>
                <a:ea typeface="MiSans"/>
              </a:rPr>
              <a:t> 负荷周期性稳定，历史同期规律可靠 </a:t>
            </a:r>
            <a:endParaRPr lang="en-US" sz="1250" noProof="1"/>
          </a:p>
          <a:p>
            <a:pPr>
              <a:lnSpc>
                <a:spcPct val="142000"/>
              </a:lnSpc>
            </a:pPr>
            <a:r>
              <a:rPr lang="en-US" sz="1250" noProof="1">
                <a:solidFill>
                  <a:srgbClr val="232A30"/>
                </a:solidFill>
                <a:latin typeface="MiSans"/>
                <a:ea typeface="MiSans"/>
              </a:rPr>
              <a:t>三区 </a:t>
            </a:r>
            <a:r>
              <a:rPr lang="en-US" sz="1250" noProof="1" b="1">
                <a:solidFill>
                  <a:srgbClr val="C0562F"/>
                </a:solidFill>
                <a:latin typeface="MiSans"/>
                <a:ea typeface="MiSans"/>
              </a:rPr>
              <a:t>97%</a:t>
            </a:r>
            <a:r>
              <a:rPr lang="en-US" sz="1250" noProof="1">
                <a:solidFill>
                  <a:srgbClr val="232A30"/>
                </a:solidFill>
                <a:latin typeface="MiSans"/>
                <a:ea typeface="MiSans"/>
              </a:rPr>
              <a:t> 以上的日子峰值落在 18–21 时，谷值集中在 4–7 时；这一规律是全部建模结论的基础。</a:t>
            </a:r>
            <a:endParaRPr lang="en-US" sz="1250" noProof="1"/>
          </a:p>
        </p:txBody>
      </p:sp>
      <p:sp>
        <p:nvSpPr>
          <p:cNvPr id="8" name="concl-2-num"/>
          <p:cNvSpPr txBox="1"/>
          <p:nvPr/>
        </p:nvSpPr>
        <p:spPr>
          <a:xfrm>
            <a:off x="508000" y="2514600"/>
            <a:ext cx="4572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2200" noProof="1" b="1">
                <a:solidFill>
                  <a:srgbClr val="C0562F"/>
                </a:solidFill>
                <a:latin typeface="MiSans"/>
                <a:ea typeface="MiSans"/>
              </a:rPr>
              <a:t>②</a:t>
            </a:r>
            <a:endParaRPr lang="en-US" sz="2200" noProof="1"/>
          </a:p>
        </p:txBody>
      </p:sp>
      <p:sp>
        <p:nvSpPr>
          <p:cNvPr id="9" name="concl-2"/>
          <p:cNvSpPr txBox="1"/>
          <p:nvPr/>
        </p:nvSpPr>
        <p:spPr>
          <a:xfrm>
            <a:off x="1041400" y="2514600"/>
            <a:ext cx="5080000" cy="127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2000"/>
              </a:lnSpc>
            </a:pPr>
            <a:r>
              <a:rPr lang="en-US" sz="1250" noProof="1" b="1">
                <a:solidFill>
                  <a:srgbClr val="FFFFFF"/>
                </a:solidFill>
                <a:highlight>
                  <a:srgbClr val="C0562F"/>
                </a:highlight>
                <a:latin typeface="MiSans"/>
                <a:ea typeface="MiSans"/>
              </a:rPr>
              <a:t> 目标对齐的周同期特征带来决定性改进 </a:t>
            </a:r>
            <a:endParaRPr lang="en-US" sz="1250" noProof="1"/>
          </a:p>
          <a:p>
            <a:pPr>
              <a:lnSpc>
                <a:spcPct val="142000"/>
              </a:lnSpc>
            </a:pPr>
            <a:r>
              <a:rPr lang="en-US" sz="1250" noProof="1">
                <a:solidFill>
                  <a:srgbClr val="232A30"/>
                </a:solidFill>
                <a:latin typeface="MiSans"/>
                <a:ea typeface="MiSans"/>
              </a:rPr>
              <a:t>修正 1 小时口径偏差后，LR 合并 MAE/RMSE 降至 </a:t>
            </a:r>
            <a:r>
              <a:rPr lang="en-US" sz="1250" noProof="1" b="1">
                <a:solidFill>
                  <a:srgbClr val="C0562F"/>
                </a:solidFill>
                <a:latin typeface="MiSans"/>
                <a:ea typeface="MiSans"/>
              </a:rPr>
              <a:t>514.09 / 767.16</a:t>
            </a:r>
            <a:r>
              <a:rPr lang="en-US" sz="1250" noProof="1">
                <a:solidFill>
                  <a:srgbClr val="232A30"/>
                </a:solidFill>
                <a:latin typeface="MiSans"/>
                <a:ea typeface="MiSans"/>
              </a:rPr>
              <a:t>（相对基线 </a:t>
            </a:r>
            <a:r>
              <a:rPr lang="en-US" sz="1250" noProof="1" b="1">
                <a:solidFill>
                  <a:srgbClr val="C0562F"/>
                </a:solidFill>
                <a:latin typeface="MiSans"/>
                <a:ea typeface="MiSans"/>
              </a:rPr>
              <a:t>−51.1% / −53.3%</a:t>
            </a:r>
            <a:r>
              <a:rPr lang="en-US" sz="1250" noProof="1">
                <a:solidFill>
                  <a:srgbClr val="232A30"/>
                </a:solidFill>
                <a:latin typeface="MiSans"/>
                <a:ea typeface="MiSans"/>
              </a:rPr>
              <a:t>），学习模型全面反超；比较模型与基线前必须先确认信息同源。</a:t>
            </a:r>
            <a:endParaRPr lang="en-US" sz="1250" noProof="1"/>
          </a:p>
        </p:txBody>
      </p:sp>
      <p:sp>
        <p:nvSpPr>
          <p:cNvPr id="10" name="concl-3-num"/>
          <p:cNvSpPr txBox="1"/>
          <p:nvPr/>
        </p:nvSpPr>
        <p:spPr>
          <a:xfrm>
            <a:off x="508000" y="3911600"/>
            <a:ext cx="4572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2200" noProof="1" b="1">
                <a:solidFill>
                  <a:srgbClr val="C0562F"/>
                </a:solidFill>
                <a:latin typeface="MiSans"/>
                <a:ea typeface="MiSans"/>
              </a:rPr>
              <a:t>③</a:t>
            </a:r>
            <a:endParaRPr lang="en-US" sz="2200" noProof="1"/>
          </a:p>
        </p:txBody>
      </p:sp>
      <p:sp>
        <p:nvSpPr>
          <p:cNvPr id="11" name="concl-3"/>
          <p:cNvSpPr txBox="1"/>
          <p:nvPr/>
        </p:nvSpPr>
        <p:spPr>
          <a:xfrm>
            <a:off x="1041400" y="3911600"/>
            <a:ext cx="5080000" cy="127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2000"/>
              </a:lnSpc>
            </a:pPr>
            <a:r>
              <a:rPr lang="en-US" sz="1250" noProof="1" b="1">
                <a:solidFill>
                  <a:srgbClr val="FFFFFF"/>
                </a:solidFill>
                <a:highlight>
                  <a:srgbClr val="C0562F"/>
                </a:highlight>
                <a:latin typeface="MiSans"/>
                <a:ea typeface="MiSans"/>
              </a:rPr>
              <a:t> 天气增益因模型与区域而异；高负荷误差放大且转为低估 </a:t>
            </a:r>
            <a:endParaRPr lang="en-US" sz="1250" noProof="1"/>
          </a:p>
          <a:p>
            <a:pPr>
              <a:lnSpc>
                <a:spcPct val="142000"/>
              </a:lnSpc>
            </a:pPr>
            <a:r>
              <a:rPr lang="en-US" sz="1250" noProof="1">
                <a:solidFill>
                  <a:srgbClr val="232A30"/>
                </a:solidFill>
                <a:latin typeface="MiSans"/>
                <a:ea typeface="MiSans"/>
              </a:rPr>
              <a:t>区域 2 高峰 RMSE 为普通时段 </a:t>
            </a:r>
            <a:r>
              <a:rPr lang="en-US" sz="1250" noProof="1" b="1">
                <a:solidFill>
                  <a:srgbClr val="C0562F"/>
                </a:solidFill>
                <a:latin typeface="MiSans"/>
                <a:ea typeface="MiSans"/>
              </a:rPr>
              <a:t>2.1 倍</a:t>
            </a:r>
            <a:r>
              <a:rPr lang="en-US" sz="1250" noProof="1">
                <a:solidFill>
                  <a:srgbClr val="232A30"/>
                </a:solidFill>
                <a:latin typeface="MiSans"/>
                <a:ea typeface="MiSans"/>
              </a:rPr>
              <a:t>、bias </a:t>
            </a:r>
            <a:r>
              <a:rPr lang="en-US" sz="1250" noProof="1" b="1">
                <a:solidFill>
                  <a:srgbClr val="C0562F"/>
                </a:solidFill>
                <a:latin typeface="MiSans"/>
                <a:ea typeface="MiSans"/>
              </a:rPr>
              <a:t>−793</a:t>
            </a:r>
            <a:r>
              <a:rPr lang="en-US" sz="1250" noProof="1">
                <a:solidFill>
                  <a:srgbClr val="232A30"/>
                </a:solidFill>
                <a:latin typeface="MiSans"/>
                <a:ea typeface="MiSans"/>
              </a:rPr>
              <a:t>；调度裕度应向高估方向预留。</a:t>
            </a:r>
            <a:endParaRPr lang="en-US" sz="1250" noProof="1"/>
          </a:p>
        </p:txBody>
      </p:sp>
      <p:sp>
        <p:nvSpPr>
          <p:cNvPr id="12" name="concl-4"/>
          <p:cNvSpPr txBox="1"/>
          <p:nvPr/>
        </p:nvSpPr>
        <p:spPr>
          <a:xfrm>
            <a:off x="508000" y="5334000"/>
            <a:ext cx="5613400" cy="838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2000"/>
              </a:lnSpc>
            </a:pPr>
            <a:r>
              <a:rPr lang="en-US" sz="1200" noProof="1" b="1">
                <a:solidFill>
                  <a:srgbClr val="6E767C"/>
                </a:solidFill>
                <a:latin typeface="MiSans"/>
                <a:ea typeface="MiSans"/>
              </a:rPr>
              <a:t>应用建议与后续方向：</a:t>
            </a:r>
            <a:r>
              <a:rPr lang="en-US" sz="1200" noProof="1">
                <a:solidFill>
                  <a:srgbClr val="6E767C"/>
                </a:solidFill>
                <a:latin typeface="MiSans"/>
                <a:ea typeface="MiSans"/>
              </a:rPr>
              <a:t>小时级调度优先采用带周同期特征的线性回归；基线作兜底；区域 3 单独监控并留更大备用容量；后续接入日程特征与真实天气预报、扩展跨年度数据。</a:t>
            </a:r>
            <a:endParaRPr lang="en-US" sz="1200" noProof="1"/>
          </a:p>
        </p:txBody>
      </p:sp>
      <p:sp>
        <p:nvSpPr>
          <p:cNvPr id="13" name="side-rule"/>
          <p:cNvSpPr/>
          <p:nvPr/>
        </p:nvSpPr>
        <p:spPr>
          <a:xfrm>
            <a:off x="6451600" y="1168400"/>
            <a:ext cx="12700" cy="5029200"/>
          </a:xfrm>
          <a:prstGeom prst="rect">
            <a:avLst/>
          </a:prstGeom>
          <a:solidFill>
            <a:srgbClr val="D8D4CB"/>
          </a:solidFill>
          <a:ln>
            <a:noFill/>
          </a:ln>
        </p:spPr>
      </p:sp>
      <p:sp>
        <p:nvSpPr>
          <p:cNvPr id="14" name="team-label"/>
          <p:cNvSpPr txBox="1"/>
          <p:nvPr/>
        </p:nvSpPr>
        <p:spPr>
          <a:xfrm>
            <a:off x="6756400" y="1168400"/>
            <a:ext cx="49276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300" noProof="1" b="1">
                <a:solidFill>
                  <a:srgbClr val="232A30"/>
                </a:solidFill>
                <a:latin typeface="MiSans"/>
                <a:ea typeface="MiSans"/>
              </a:rPr>
              <a:t>团队分工（与 Git 提交记录对应）</a:t>
            </a:r>
            <a:endParaRPr lang="en-US" sz="1300" noProof="1"/>
          </a:p>
        </p:txBody>
      </p:sp>
      <p:sp>
        <p:nvSpPr>
          <p:cNvPr id="15" name="team-list"/>
          <p:cNvSpPr txBox="1"/>
          <p:nvPr/>
        </p:nvSpPr>
        <p:spPr>
          <a:xfrm>
            <a:off x="6756400" y="1498600"/>
            <a:ext cx="4927600" cy="1905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50000"/>
              </a:lnSpc>
            </a:pPr>
            <a:r>
              <a:rPr lang="en-US" sz="1250" noProof="1" b="1">
                <a:solidFill>
                  <a:srgbClr val="232A30"/>
                </a:solidFill>
                <a:latin typeface="MiSans"/>
                <a:ea typeface="MiSans"/>
              </a:rPr>
              <a:t>郑宜桥</a:t>
            </a:r>
            <a:r>
              <a:rPr lang="en-US" sz="1250" noProof="1">
                <a:solidFill>
                  <a:srgbClr val="232A30"/>
                </a:solidFill>
                <a:latin typeface="MiSans"/>
                <a:ea typeface="MiSans"/>
              </a:rPr>
              <a:t>　A 模块：数据质量审计、清洗、时序规律与天气相关性分析（图 1–6）</a:t>
            </a:r>
            <a:endParaRPr lang="en-US" sz="1250" noProof="1"/>
          </a:p>
          <a:p>
            <a:pPr>
              <a:lnSpc>
                <a:spcPct val="150000"/>
              </a:lnSpc>
            </a:pPr>
            <a:r>
              <a:rPr lang="en-US" sz="1250" noProof="1" b="1">
                <a:solidFill>
                  <a:srgbClr val="232A30"/>
                </a:solidFill>
                <a:latin typeface="MiSans"/>
                <a:ea typeface="MiSans"/>
              </a:rPr>
              <a:t>况子昱</a:t>
            </a:r>
            <a:r>
              <a:rPr lang="en-US" sz="1250" noProof="1">
                <a:solidFill>
                  <a:srgbClr val="232A30"/>
                </a:solidFill>
                <a:latin typeface="MiSans"/>
                <a:ea typeface="MiSans"/>
              </a:rPr>
              <a:t>　B 模块：切分与特征工程、三模型训练与调参、时间序列验证协议</a:t>
            </a:r>
            <a:endParaRPr lang="en-US" sz="1250" noProof="1"/>
          </a:p>
          <a:p>
            <a:pPr>
              <a:lnSpc>
                <a:spcPct val="150000"/>
              </a:lnSpc>
            </a:pPr>
            <a:r>
              <a:rPr lang="en-US" sz="1250" noProof="1" b="1">
                <a:solidFill>
                  <a:srgbClr val="232A30"/>
                </a:solidFill>
                <a:latin typeface="MiSans"/>
                <a:ea typeface="MiSans"/>
              </a:rPr>
              <a:t>徐启翔</a:t>
            </a:r>
            <a:r>
              <a:rPr lang="en-US" sz="1250" noProof="1">
                <a:solidFill>
                  <a:srgbClr val="232A30"/>
                </a:solidFill>
                <a:latin typeface="MiSans"/>
                <a:ea typeface="MiSans"/>
              </a:rPr>
              <a:t>　C 模块：天气消融、高负荷误差分析、结论整合与报告撰写</a:t>
            </a:r>
            <a:endParaRPr lang="en-US" sz="1250" noProof="1"/>
          </a:p>
        </p:txBody>
      </p:sp>
      <p:sp>
        <p:nvSpPr>
          <p:cNvPr id="16" name="result-label"/>
          <p:cNvSpPr txBox="1"/>
          <p:nvPr/>
        </p:nvSpPr>
        <p:spPr>
          <a:xfrm>
            <a:off x="6756400" y="3581400"/>
            <a:ext cx="49276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300" noProof="1" b="1">
                <a:solidFill>
                  <a:srgbClr val="232A30"/>
                </a:solidFill>
                <a:latin typeface="MiSans"/>
                <a:ea typeface="MiSans"/>
              </a:rPr>
              <a:t>项目成果</a:t>
            </a:r>
            <a:endParaRPr lang="en-US" sz="1300" noProof="1"/>
          </a:p>
        </p:txBody>
      </p:sp>
      <p:sp>
        <p:nvSpPr>
          <p:cNvPr id="17" name="result-list"/>
          <p:cNvSpPr txBox="1"/>
          <p:nvPr/>
        </p:nvSpPr>
        <p:spPr>
          <a:xfrm>
            <a:off x="6756400" y="3911600"/>
            <a:ext cx="4927600" cy="127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50000"/>
              </a:lnSpc>
            </a:pPr>
            <a:r>
              <a:rPr lang="en-US" sz="1250" noProof="1">
                <a:solidFill>
                  <a:srgbClr val="232A30"/>
                </a:solidFill>
                <a:latin typeface="MiSans"/>
                <a:ea typeface="MiSans"/>
              </a:rPr>
              <a:t>· 完整可复现代码库：</a:t>
            </a:r>
            <a:r>
              <a:rPr lang="en-US" sz="1250" noProof="1" b="1">
                <a:solidFill>
                  <a:srgbClr val="C0562F"/>
                </a:solidFill>
                <a:latin typeface="MiSans"/>
                <a:ea typeface="MiSans"/>
              </a:rPr>
              <a:t>19 项</a:t>
            </a:r>
            <a:r>
              <a:rPr lang="en-US" sz="1250" noProof="1">
                <a:solidFill>
                  <a:srgbClr val="232A30"/>
                </a:solidFill>
                <a:latin typeface="MiSans"/>
                <a:ea typeface="MiSans"/>
              </a:rPr>
              <a:t>自动化检查全部通过</a:t>
            </a:r>
            <a:endParaRPr lang="en-US" sz="1250" noProof="1"/>
          </a:p>
          <a:p>
            <a:pPr>
              <a:lnSpc>
                <a:spcPct val="150000"/>
              </a:lnSpc>
            </a:pPr>
            <a:r>
              <a:rPr lang="en-US" sz="1250" noProof="1">
                <a:solidFill>
                  <a:srgbClr val="232A30"/>
                </a:solidFill>
                <a:latin typeface="MiSans"/>
                <a:ea typeface="MiSans"/>
              </a:rPr>
              <a:t>· </a:t>
            </a:r>
            <a:r>
              <a:rPr lang="en-US" sz="1250" noProof="1" b="1">
                <a:solidFill>
                  <a:srgbClr val="C0562F"/>
                </a:solidFill>
                <a:latin typeface="MiSans"/>
                <a:ea typeface="MiSans"/>
              </a:rPr>
              <a:t>9 张</a:t>
            </a:r>
            <a:r>
              <a:rPr lang="en-US" sz="1250" noProof="1">
                <a:solidFill>
                  <a:srgbClr val="232A30"/>
                </a:solidFill>
                <a:latin typeface="MiSans"/>
                <a:ea typeface="MiSans"/>
              </a:rPr>
              <a:t>分析图、</a:t>
            </a:r>
            <a:r>
              <a:rPr lang="en-US" sz="1250" noProof="1" b="1">
                <a:solidFill>
                  <a:srgbClr val="C0562F"/>
                </a:solidFill>
                <a:latin typeface="MiSans"/>
                <a:ea typeface="MiSans"/>
              </a:rPr>
              <a:t>20+ 张</a:t>
            </a:r>
            <a:r>
              <a:rPr lang="en-US" sz="1250" noProof="1">
                <a:solidFill>
                  <a:srgbClr val="232A30"/>
                </a:solidFill>
                <a:latin typeface="MiSans"/>
                <a:ea typeface="MiSans"/>
              </a:rPr>
              <a:t>指标表、全程实验日志</a:t>
            </a:r>
            <a:endParaRPr lang="en-US" sz="1250" noProof="1"/>
          </a:p>
          <a:p>
            <a:pPr>
              <a:lnSpc>
                <a:spcPct val="150000"/>
              </a:lnSpc>
            </a:pPr>
            <a:r>
              <a:rPr lang="en-US" sz="1250" noProof="1">
                <a:solidFill>
                  <a:srgbClr val="232A30"/>
                </a:solidFill>
                <a:latin typeface="MiSans"/>
                <a:ea typeface="MiSans"/>
              </a:rPr>
              <a:t>· 项目报告（Word / PDF）与本汇报 PPT</a:t>
            </a:r>
            <a:endParaRPr lang="en-US" sz="1250" noProof="1"/>
          </a:p>
        </p:txBody>
      </p:sp>
      <p:sp>
        <p:nvSpPr>
          <p:cNvPr id="18" name="repo-line"/>
          <p:cNvSpPr/>
          <p:nvPr/>
        </p:nvSpPr>
        <p:spPr>
          <a:xfrm>
            <a:off x="6756400" y="5334000"/>
            <a:ext cx="4927600" cy="12700"/>
          </a:xfrm>
          <a:prstGeom prst="rect">
            <a:avLst/>
          </a:prstGeom>
          <a:solidFill>
            <a:srgbClr val="D8D4CB"/>
          </a:solidFill>
          <a:ln>
            <a:noFill/>
          </a:ln>
        </p:spPr>
      </p:sp>
      <p:sp>
        <p:nvSpPr>
          <p:cNvPr id="19" name="repo"/>
          <p:cNvSpPr txBox="1"/>
          <p:nvPr/>
        </p:nvSpPr>
        <p:spPr>
          <a:xfrm>
            <a:off x="6756400" y="5486400"/>
            <a:ext cx="49276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40000"/>
              </a:lnSpc>
            </a:pPr>
            <a:r>
              <a:rPr lang="en-US" sz="1250" noProof="1" b="1">
                <a:solidFill>
                  <a:srgbClr val="16424B"/>
                </a:solidFill>
                <a:latin typeface="MiSans"/>
                <a:ea typeface="MiSans"/>
              </a:rPr>
              <a:t>GitHub 仓库</a:t>
            </a:r>
            <a:endParaRPr lang="en-US" sz="1250" noProof="1"/>
          </a:p>
          <a:p>
            <a:pPr>
              <a:lnSpc>
                <a:spcPct val="140000"/>
              </a:lnSpc>
            </a:pPr>
            <a:r>
              <a:rPr lang="en-US" sz="1250" noProof="1" u="sng">
                <a:solidFill>
                  <a:srgbClr val="0563C1"/>
                </a:solidFill>
                <a:latin typeface="MiSans"/>
                <a:ea typeface="MiSans"/>
                <a:hlinkClick r:id="rId2"/>
              </a:rPr>
              <a:t>github.com/77xiang/python_data_processing</a:t>
            </a:r>
            <a:endParaRPr lang="en-US" sz="1250" noProof="1"/>
          </a:p>
        </p:txBody>
      </p:sp>
      <p:sp>
        <p:nvSpPr>
          <p:cNvPr id="20" name="foot-line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8D4CB"/>
          </a:solidFill>
          <a:ln>
            <a:noFill/>
          </a:ln>
        </p:spPr>
      </p:sp>
      <p:sp>
        <p:nvSpPr>
          <p:cNvPr id="21" name="foot"/>
          <p:cNvSpPr txBox="1"/>
          <p:nvPr/>
        </p:nvSpPr>
        <p:spPr>
          <a:xfrm>
            <a:off x="508000" y="6502400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E767C"/>
                </a:solidFill>
                <a:latin typeface="MiSans"/>
                <a:ea typeface="MiSans"/>
              </a:rPr>
              <a:t>《Python 数据分析编程》课程汇报 · 感谢聆听，欢迎提问</a:t>
            </a:r>
            <a:endParaRPr lang="en-US" sz="1000" noProof="1"/>
          </a:p>
        </p:txBody>
      </p:sp>
      <p:sp>
        <p:nvSpPr>
          <p:cNvPr id="22" name="page-num"/>
          <p:cNvSpPr txBox="1"/>
          <p:nvPr/>
        </p:nvSpPr>
        <p:spPr>
          <a:xfrm>
            <a:off x="11176000" y="6502400"/>
            <a:ext cx="508000" cy="203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E767C"/>
                </a:solidFill>
                <a:latin typeface="MiSans"/>
                <a:ea typeface="MiSans"/>
              </a:rPr>
              <a:t>9 / 9</a:t>
            </a:r>
            <a:endParaRPr lang="en-US" sz="10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customXml/provenance.xml><?xml version="1.0" encoding="utf-8"?>
<provenance xmlns="urn:kimi:pptd:provenance">
  <producer>Kimi Slides/Design</producer>
  <statement>Built by Kimi Slides/Design with PPTD</statement>
</provenance>
</file>

<file path=docProps/app.xml><?xml version="1.0" encoding="utf-8"?>
<Properties xmlns="http://schemas.openxmlformats.org/officeDocument/2006/extended-properties">
  <Application>Neo Design</Application>
  <Slides>9</Slides>
</Properties>
</file>

<file path=docProps/core.xml><?xml version="1.0" encoding="utf-8"?>
<cp:coreProperties xmlns:dc="http://purl.org/dc/elements/1.1/" xmlns:cp="http://schemas.openxmlformats.org/package/2006/metadata/core-properties">
  <dc:title>课程汇报PPT</dc:title>
</cp:coreProperties>
</file>

<file path=docProps/custom.xml><?xml version="1.0" encoding="utf-8"?>
<Properties xmlns:vt="http://schemas.openxmlformats.org/officeDocument/2006/docPropsVTypes" xmlns="http://schemas.openxmlformats.org/officeDocument/2006/custom-properties">
  <property fmtid="{D5CDD505-2E9C-101B-9397-08002B2CF9AE}" pid="4" name="AIGC">
    <vt:lpwstr/>
  </property>
</Properties>
</file>